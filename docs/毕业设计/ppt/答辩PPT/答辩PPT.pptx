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2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9" Type="http://schemas.openxmlformats.org/officeDocument/2006/relationships/slide" Target="slides/slide19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0" Type="http://schemas.openxmlformats.org/officeDocument/2006/relationships/slide" Target="slides/slide20.xml" /><Relationship Id="rId21" Type="http://schemas.openxmlformats.org/officeDocument/2006/relationships/notesMaster" Target="notesMasters/notesMaster1.xml" /><Relationship Id="rId24" Type="http://schemas.openxmlformats.org/officeDocument/2006/relationships/viewProps" Target="viewProps.xml" /><Relationship Id="rId23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background: '#FFFFFF', padding: 0, fontFamily: 'Microsoft YaHei' }}&gt;&#10;  &lt;Box style={{ position: 'absolute', top: 0, left: 0, width: '1280px', height: '12px', background: '#1E4FA8' }} /&gt;&#10;  &lt;Box style={{ position: 'absolute', bottom: 0, left: 0, width: '1280px', height: '12px', background: '#1E4FA8' }} /&gt;&#10;  &lt;Box style={{ flex: 1, justifyContent: 'center', alignItems: 'center', padding: '0 100px' }}&gt;&#10;    &lt;Box style={{ width: '1080px', flexDirection: 'column', gap: 28, alignItems: 'center' }}&gt;&#10;      &lt;Text style={{ fontSize: 20, color: '#4A5568', letterSpacing: 4 }}&gt;浙江师范大学第 9 届大学生服务外包创新应用竞赛&lt;/Text&gt;&#10;      &lt;Box style={{ width: '1080px', height: '2px', background: '#D6DCE5' }} /&gt;&#10;      &lt;Text style={{ fontSize: 56, fontWeight: 'bold', color: '#1E4FA8', textAlign: 'center', lineHeight: 1.2 }}&gt;&#10;        面镜 MockMirror&#10;      &lt;/Text&gt;&#10;      &lt;Text style={{ fontSize: 30, fontWeight: 'bold', color: '#1A2230', textAlign: 'center' }}&gt;&#10;        AI 模拟面试与能力提升软件&#10;      &lt;/Text&gt;&#10;      &lt;Box style={{ width: '760px', padding: '14px 24px', background: '#E8EFF8', alignItems: 'center' }}&gt;&#10;        &lt;Text style={{ fontSize: 19, color: '#1E4FA8', textAlign: 'center' }}&gt;&#10;          赛题 A11 · 自主决策的面试官 Agent · 全语音真实面试闭环&#10;        &lt;/Text&gt;&#10;      &lt;/Box&gt;&#10;      &lt;Box style={{ width: '1080px', height: '2px', background: '#D6DCE5', marginTop: 12 }} /&gt;&#10;      &lt;Box style={{ flexDirection: 'row', gap: 60, marginTop: 8 }}&gt;&#10;        &lt;Box style={{ flexDirection: 'column', gap: 8, alignItems: 'center' }}&gt;&#10;          &lt;Text style={{ fontSize: 15, color: '#8B97A8' }}&gt;参赛队&lt;/Text&gt;&#10;          &lt;Text style={{ fontSize: 20, fontWeight: 'bold', color: '#1A2230' }}&gt;面镜 MockMirror&lt;/Text&gt;&#10;        &lt;/Box&gt;&#10;        &lt;Box style={{ flexDirection: 'column', gap: 8, alignItems: 'center' }}&gt;&#10;          &lt;Text style={{ fontSize: 15, color: '#8B97A8' }}&gt;团队成员&lt;/Text&gt;&#10;          &lt;Text style={{ fontSize: 20, fontWeight: 'bold', color: '#1A2230' }}&gt;王涛 · 谭绍卿 · 夏艺凡 · 覃佳维 · 江帆帆&lt;/Text&gt;&#10;        &lt;/Box&gt;&#10;        &lt;Box style={{ flexDirection: 'column', gap: 8, alignItems: 'center' }}&gt;&#10;          &lt;Text style={{ fontSize: 15, color: '#8B97A8' }}&gt;汇报日期&lt;/Text&gt;&#10;          &lt;Text style={{ fontSize: 20, fontWeight: 'bold', color: '#1A2230' }}&gt;2026 年 10 月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3524250" y="1362075"/>
            <a:ext cx="514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300">
                <a:solidFill>
                  <a:srgbClr val="4A5568"/>
                </a:solidFill>
                <a:latin typeface="Microsoft YaHei"/>
                <a:ea typeface="Microsoft YaHei"/>
              </a:rPr>
              <a:t>浙江师范大学第</a:t>
            </a:r>
            <a:r>
              <a:rPr lang="en-US" sz="1500" spc="300">
                <a:solidFill>
                  <a:srgbClr val="4A5568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500" spc="300">
                <a:solidFill>
                  <a:srgbClr val="4A5568"/>
                </a:solidFill>
                <a:latin typeface="Microsoft YaHei"/>
                <a:ea typeface="Microsoft YaHei"/>
              </a:rPr>
              <a:t>届大学生服务外包创新应用竞赛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952500" y="1857375"/>
            <a:ext cx="102870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3867150" y="2143125"/>
            <a:ext cx="4457700" cy="7715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4200" b="1">
                <a:solidFill>
                  <a:srgbClr val="1E4FA8"/>
                </a:solidFill>
                <a:latin typeface="Microsoft YaHei"/>
                <a:ea typeface="Microsoft YaHei"/>
              </a:rPr>
              <a:t>面镜</a:t>
            </a:r>
            <a:r>
              <a:rPr lang="en-US" sz="42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MockMirror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4324350" y="3181350"/>
            <a:ext cx="35433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2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2476500" y="3790950"/>
            <a:ext cx="7239000" cy="4857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3743325" y="3924300"/>
            <a:ext cx="4714875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赛题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 xml:space="preserve"> A11 · </a:t>
            </a: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自主决策的面试官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 xml:space="preserve"> Agent · </a:t>
            </a: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全语音真实面试闭环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952500" y="4657725"/>
            <a:ext cx="102870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952750" y="50196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参赛队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371725" y="5267325"/>
            <a:ext cx="159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面镜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MockMirror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981700" y="5019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团队成员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533900" y="5267325"/>
            <a:ext cx="3457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王涛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谭绍卿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夏艺凡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覃佳维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江帆帆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905875" y="5019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汇报日期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562975" y="5267325"/>
            <a:ext cx="1257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年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0" y="674370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71" name="" descr="&lt;Slide style={{ width: '1280px', height: '720px', background: '#FFFFFF', padding: 0, fontFamily: 'Microsoft YaHei' }}&gt;&#13;&#10;  &lt;Box style={{ width: '1280px', height: '720px', flexDirection: 'column', padding: '60px' }}&gt;&#13;&#10;    &lt;Text style={{ fontSize: 34, fontWeight: 'bold', color: '#1E4FA8' }}&gt;目录&lt;/Text&gt;&#13;&#10;    &lt;Box style={{ width: '1160px', height: '2px', background: '#1E4FA8', marginTop: 14 }} /&gt;&#13;&#10;    &lt;Box style={{ flexDirection: 'row', marginTop: 40, gap: 32, flex: 1 }}&gt;&#13;&#10;      &lt;Box style={{ width: '530px', flexDirection: 'column', gap: 22 }}&gt;&#13;&#10;        &lt;Box style={{ flexDirection: 'row', alignItems: 'flex-start', gap: 16 }}&gt;&#13;&#10;          &lt;Text style={{ fontSize: 30, fontWeight: 'bold', color: '#1E4FA8', width: '60px' }}&gt;01&lt;/Text&gt;&#13;&#10;          &lt;Box style={{ flexDirection: 'column', gap: 4 }}&gt;&#13;&#10;            &lt;Text style={{ fontSize: 24, fontWeight: 'bold', color: '#1A2230' }}&gt;研究背景与问题&lt;/Text&gt;&#13;&#10;            &lt;Text style={{ fontSize: 16, color: '#8B97A8' }}&gt;Background and Problem&lt;/Text&gt;&#13;&#10;          &lt;/Box&gt;&#13;&#10;        &lt;/Box&gt;&#13;&#10;        &lt;Box style={{ flexDirection: 'row', alignItems: 'flex-start', gap: 16 }}&gt;&#13;&#10;          &lt;Text style={{ fontSize: 30, fontWeight: 'bold', color: '#1E4FA8', width: '60px' }}&gt;02&lt;/Text&gt;&#13;&#10;          &lt;Box style={{ flexDirection: 'column', gap: 4 }}&gt;&#13;&#10;            &lt;Text style={{ fontSize: 24, fontWeight: 'bold', color: '#1A2230' }}&gt;系统总体设计&lt;/Text&gt;&#13;&#10;            &lt;Text style={{ fontSize: 16, color: '#8B97A8' }}&gt;System Design&lt;/Text&gt;&#13;&#10;          &lt;/Box&gt;&#13;&#10;        &lt;/Box&gt;&#13;&#10;        &lt;Box style={{ flexDirection: 'row', alignItems: 'flex-start', gap: 16 }}&gt;&#13;&#10;          &lt;Text style={{ fontSize: 30, fontWeight: 'bold', color: '#1E4FA8', width: '60px' }}&gt;03&lt;/Text&gt;&#13;&#10;          &lt;Box style={{ flexDirection: 'column', gap: 4 }}&gt;&#13;&#10;            &lt;Text style={{ fontSize: 24, fontWeight: 'bold', color: '#1A2230' }}&gt;Agent 决策机制&lt;/Text&gt;&#13;&#10;            &lt;Text style={{ fontSize: 16, color: '#8B97A8' }}&gt;Agent Decision Loop&lt;/Text&gt;&#13;&#10;          &lt;/Box&gt;&#13;&#10;        &lt;/Box&gt;&#13;&#10;      &lt;/Box&gt;&#13;&#10;      &lt;Box style={{ width: '1px', background: '#D6DCE5' }} /&gt;&#13;&#10;      &lt;Box style={{ width: '530px', flexDirection: 'column', gap: 22 }}&gt;&#13;&#10;        &lt;Box style={{ flexDirection: 'row', alignItems: 'flex-start', gap: 16 }}&gt;&#13;&#10;          &lt;Text style={{ fontSize: 30, fontWeight: 'bold', color: '#1E4FA8', width: '60px' }}&gt;04&lt;/Text&gt;&#13;&#10;          &lt;Box style={{ flexDirection: 'column', gap: 4 }}&gt;&#13;&#10;            &lt;Text style={{ fontSize: 24, fontWeight: 'bold', color: '#1A2230' }}&gt;关键技术与实现&lt;/Text&gt;&#13;&#10;            &lt;Text style={{ fontSize: 16, color: '#8B97A8' }}&gt;Key Techniques&lt;/Text&gt;&#13;&#10;          &lt;/Box&gt;&#13;&#10;        &lt;/Box&gt;&#13;&#10;        &lt;Box style={{ flexDirection: 'row', alignItems: 'flex-start', gap: 16 }}&gt;&#13;&#10;          &lt;Text style={{ fontSize: 30, fontWeight: 'bold', color: '#1E4FA8', width: '60px' }}&gt;05&lt;/Text&gt;&#13;&#10;          &lt;Box style={{ flexDirection: 'column', gap: 4 }}&gt;&#13;&#10;            &lt;Text style={{ fontSize: 24, fontWeight: 'bold', color: '#1A2230' }}&gt;测试验证与团队分工&lt;/Text&gt;&#13;&#10;            &lt;Text style={{ fontSize: 16, color: '#8B97A8' }}&gt;Evaluation and Teamwork&lt;/Text&gt;&#13;&#10;          &lt;/Box&gt;&#13;&#10;        &lt;/Box&gt;&#13;&#10;        &lt;Box style={{ flexDirection: 'row', alignItems: 'flex-start', gap: 16 }}&gt;&#13;&#10;          &lt;Text style={{ fontSize: 30, fontWeight: 'bold', color: '#1E4FA8', width: '60px' }}&gt;06&lt;/Text&gt;&#13;&#10;          &lt;Box style={{ flexDirection: 'column', gap: 4 }}&gt;&#13;&#10;            &lt;Text style={{ fontSize: 24, fontWeight: 'bold', color: '#1A2230' }}&gt;总结与展望&lt;/Text&gt;&#13;&#10;            &lt;Text style={{ fontSize: 16, color: '#8B97A8' }}&gt;Conclusion&lt;/Text&gt;&#13;&#10;          &lt;/Box&gt;&#13;&#10;        &lt;/Box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571500" y="1095375"/>
            <a:ext cx="11049000" cy="190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71500" y="1495425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295400" y="1495425"/>
            <a:ext cx="1857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研究背景与问题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295400" y="1809750"/>
            <a:ext cx="1857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Background and Problem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295400" y="2209800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系统总体设计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295400" y="2524125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System Design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71500" y="2924175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295400" y="2924175"/>
            <a:ext cx="16859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决策机制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295400" y="3238500"/>
            <a:ext cx="1685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Agent Decision Loop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5924550" y="1495425"/>
            <a:ext cx="9525" cy="479107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238875" y="1495425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962775" y="149542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关键技术与实现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962775" y="18097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Key Techniques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238875" y="2209800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962775" y="2209800"/>
            <a:ext cx="2057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测试验证与团队分工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962775" y="2524125"/>
            <a:ext cx="205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Evaluation and Teamwork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238875" y="2924175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962775" y="29241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总结与展望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962775" y="323850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Conclusion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04" name="" descr="&lt;Slide style={{ width: '1280px', height: '720px', background: '#FFFFFF', padding: 0, fontFamily: 'Microsoft YaHei' }}&gt;&#10;  &lt;Box style={{ position: 'absolute', top: 60, left: 60, width: '1160px', height: '64px', background: '#1E4FA8', flexDirection: 'row', alignItems: 'center', justifyContent: 'space-between', padding: '0 24px' }}&gt;&#10;    &lt;Text style={{ fontSize: 32, fontWeight: 'bold', color: '#FFFFFF' }}&gt;研究背景与问题&lt;/Text&gt;&#10;    &lt;Text style={{ fontSize: 16, color: '#C7D8F5' }}&gt;01 · Background&lt;/Text&gt;&#10;  &lt;/Box&gt;&#10;&#10;  &lt;Box style={{ position: 'absolute', top: 148, left: 60, width: '1160px', flexDirection: 'column', gap: 24 }}&gt;&#10;    &lt;Box style={{ padding: '14px 20px', background: '#E8EFF8', borderLeft: '4px solid #1E4FA8' }}&gt;&#10;      &lt;Text style={{ fontSize: 19, color: '#1A2230', lineHeight: 1.5 }}&gt;&#10;        应届生在求职中普遍缺乏可反复练习、且能拿到具体反馈的面试机会——这构成了本课题要回答的核心问题。&#10;      &lt;/Text&gt;&#10;    &lt;/Box&gt;&#10;&#10;    &lt;Box style={{ flexDirection: 'row', gap: 24 }}&gt;&#10;      &lt;Box style={{ width: '370px', padding: '20px 18px', border: '1px solid #D6DCE5', flexDirection: 'column', gap: 12 }}&gt;&#10;        &lt;Box style={{ flexDirection: 'row', alignItems: 'center', gap: 10 }}&gt;&#10;          &lt;Box style={{ width: '30px', height: '30px', background: '#1E4FA8', alignItems: 'center', justifyContent: 'center' }}&gt;&#10;            &lt;Text style={{ fontSize: 16, fontWeight: 'bold', color: '#FFFFFF' }}&gt;Ⅰ&lt;/Text&gt;&#10;          &lt;/Box&gt;&#10;          &lt;Text style={{ fontSize: 22, fontWeight: 'bold', color: '#1E4FA8' }}&gt;练不了&lt;/Text&gt;&#10;        &lt;/Box&gt;&#10;        &lt;Text style={{ fontSize: 17, color: '#4A5568', lineHeight: 1.55 }}&gt;&#10;          真实面试机会稀缺且不可重复，一次失误即失去机会，无法通过「多练」形成能力提升。&#10;        &lt;/Text&gt;&#10;      &lt;/Box&gt;&#10;&#10;      &lt;Box style={{ width: '370px', padding: '20px 18px', border: '1px solid #D6DCE5', flexDirection: 'column', gap: 12 }}&gt;&#10;        &lt;Box style={{ flexDirection: 'row', alignItems: 'center', gap: 10 }}&gt;&#10;          &lt;Box style={{ width: '30px', height: '30px', background: '#1E4FA8', alignItems: 'center', justifyContent: 'center' }}&gt;&#10;            &lt;Text style={{ fontSize: 16, fontWeight: 'bold', color: '#FFFFFF' }}&gt;Ⅱ&lt;/Text&gt;&#10;          &lt;/Box&gt;&#10;          &lt;Text style={{ fontSize: 22, fontWeight: 'bold', color: '#1E4FA8' }}&gt;不知道错哪&lt;/Text&gt;&#10;        &lt;/Box&gt;&#10;        &lt;Text style={{ fontSize: 17, color: '#4A5568', lineHeight: 1.55 }}&gt;&#10;          即便参加了真实面试，也几乎拿不到逐题的、可操作的改进建议，同类错误被反复带到下一场。&#10;        &lt;/Text&gt;&#10;      &lt;/Box&gt;&#10;&#10;      &lt;Box style={{ width: '370px', padding: '20px 18px', border: '1px solid #D6DCE5', flexDirection: 'column', gap: 12 }}&gt;&#10;        &lt;Box style={{ flexDirection: 'row', alignItems: 'center', gap: 10 }}&gt;&#10;          &lt;Box style={{ width: '30px', height: '30px', background: '#1E4FA8', alignItems: 'center', justifyContent: 'center' }}&gt;&#10;            &lt;Text style={{ fontSize: 16, fontWeight: 'bold', color: '#FFFFFF' }}&gt;Ⅲ&lt;/Text&gt;&#10;          &lt;/Box&gt;&#10;          &lt;Text style={{ fontSize: 22, fontWeight: 'bold', color: '#1E4FA8' }}&gt;工具不像面试&lt;/Text&gt;&#10;        &lt;/Box&gt;&#10;        &lt;Text style={{ fontSize: 17, color: '#4A5568', lineHeight: 1.55 }}&gt;&#10;          现有产品以选择题与背诵八股为主，缺少「开口说—被追问—被评价」的闭环；云端 AI 面试在国内常因语音服务不可用而失效。&#10;        &lt;/Text&gt;&#10;      &lt;/Box&gt;&#10;    &lt;/Box&gt;&#10;&#10;    &lt;Box style={{ padding: '16px 20px', background: '#F7F9FC', border: '1px solid #D6DCE5' }}&gt;&#10;      &lt;Text style={{ fontSize: 18, color: '#1A2230', lineHeight: 1.5 }}&gt;&#10;        &lt;span style={{ fontWeight: 'bold', color: '#D9534F' }}&gt;本研究的切入点：&lt;/span&gt;&#10;        现有方案集中在「题目与答案」，对「开口表达 + 可操作反馈」关注不足。本项目以全语音交互重建面试现场，并把面试官的决策过程显式化。&#10;      &lt;/Text&gt;&#10;    &lt;/Box&gt;&#10;  &lt;/Box&gt;&#10;&#10;  &lt;Box style={{ position: 'absolute', top: 670, left: 60, width: '1160px', flexDirection: 'row', justifyContent: 'space-between' }}&gt;&#10;    &lt;Text style={{ fontSize: 14, color: '#8B97A8' }}&gt;面镜 MockMirror · AI 模拟面试与能力提升软件&lt;/Text&gt;&#10;    &lt;Text style={{ fontSize: 14, color: '#8B97A8' }}&gt;03 / 2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2133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研究背景与问题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0210800" y="781050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01 · Background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09600" y="1409700"/>
            <a:ext cx="11049000" cy="6000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571500" y="1409700"/>
            <a:ext cx="11087100" cy="600075"/>
          </a:xfrm>
          <a:custGeom>
            <a:pathLst>
              <a:path w="1164" h="63">
                <a:moveTo>
                  <a:pt x="0" y="0"/>
                </a:moveTo>
                <a:lnTo>
                  <a:pt x="4" y="0"/>
                </a:lnTo>
                <a:lnTo>
                  <a:pt x="4" y="63"/>
                </a:lnTo>
                <a:lnTo>
                  <a:pt x="0" y="6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00100" y="1543050"/>
            <a:ext cx="10629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应届生在求职中普遍缺乏可反复练习、且能拿到具体反馈的面试机会——这构成了本课题要回答的核心问题。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571500" y="2238375"/>
            <a:ext cx="3524250" cy="168592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3" name=""/>
          <p:cNvSpPr/>
          <p:nvPr/>
        </p:nvSpPr>
        <p:spPr>
          <a:xfrm rot="0" flipH="0" flipV="0">
            <a:off x="742950" y="2428875"/>
            <a:ext cx="2857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09625" y="24765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Ⅰ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123950" y="2447925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练不了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42950" y="2828925"/>
            <a:ext cx="31813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真实面试机会稀缺且不可重复，一次失误即失去机会，无法通过「多练」形成能力提升。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4324350" y="2238375"/>
            <a:ext cx="3524250" cy="168592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4495800" y="2428875"/>
            <a:ext cx="2857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4562475" y="24765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Ⅱ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4876800" y="2447925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不知道错哪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4495800" y="2828925"/>
            <a:ext cx="31813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即便参加了真实面试，也几乎拿不到逐题的、可操作的改进建议，同类错误被反复带到下一场。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8077200" y="2238375"/>
            <a:ext cx="3524250" cy="168592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23" name=""/>
          <p:cNvSpPr/>
          <p:nvPr/>
        </p:nvSpPr>
        <p:spPr>
          <a:xfrm rot="0" flipH="0" flipV="0">
            <a:off x="8248650" y="2428875"/>
            <a:ext cx="2857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315325" y="24765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Ⅲ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8629650" y="2447925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工具不像面试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248650" y="2828925"/>
            <a:ext cx="31813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现有产品以选择题与背诵八股为主，缺少「开口说—被追问—被评价」的闭环；云端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面试在国内常因语音服务不可用而失效。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571500" y="4152900"/>
            <a:ext cx="11049000" cy="92392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62000" y="4305300"/>
            <a:ext cx="10668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本研究的切入点：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现有方案集中在「题目与答案」，对「开口表达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可操作反馈」关注不足。本项目以全语音交互重建面试现场，并把面试官的决策过程显式化。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03 / 20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31" name="" descr="&lt;Slide style={{ width: '1280px', height: '720px', background: '#FFFFFF', padding: 0, fontFamily: 'Microsoft YaHei' }}&gt;&#10;  &lt;Box style={{ position: 'absolute', top: 60, left: 60, width: '1160px', height: '64px', background: '#1E4FA8', flexDirection: 'row', alignItems: 'center', justifyContent: 'space-between', padding: '0 24px' }}&gt;&#10;    &lt;Text style={{ fontSize: 32, fontWeight: 'bold', color: '#FFFFFF' }}&gt;研究问题与考核目标&lt;/Text&gt;&#10;    &lt;Text style={{ fontSize: 16, color: '#C7D8F5' }}&gt;01 · Objectives&lt;/Text&gt;&#10;  &lt;/Box&gt;&#10;&#10;  &lt;Box style={{ position: 'absolute', top: 148, left: 60, width: '1160px', flexDirection: 'column', gap: 20 }}&gt;&#10;    &lt;Box style={{ flexDirection: 'column', gap: 10, paddingBottom: 16, borderBottom: '1px solid #E5E7EB' }}&gt;&#10;      &lt;Box style={{ flexDirection: 'row', gap: 14, alignItems: 'flex-start' }}&gt;&#10;        &lt;Text style={{ fontSize: 22, fontWeight: 'bold', color: '#1E4FA8', width: '48px' }}&gt;Q1&lt;/Text&gt;&#10;        &lt;Text style={{ fontSize: 19, color: '#1A2230', width: '480px', lineHeight: 1.5 }}&gt;&#10;          如何在国内网络环境下实现可用的全语音面试交互？&#10;        &lt;/Text&gt;&#10;        &lt;Text style={{ fontSize: 18, color: '#4A5568', width: '600px', lineHeight: 1.5 }}&gt;&#10;          考核目标：本地离线识别引擎 + 浏览器识别回退，识别实时率 RTF ≤ 0.5，断网可完成整场面试。&#10;        &lt;/Text&gt;&#10;      &lt;/Box&gt;&#10;    &lt;/Box&gt;&#10;&#10;    &lt;Box style={{ flexDirection: 'column', gap: 10, paddingBottom: 16, borderBottom: '1px solid #E5E7EB' }}&gt;&#10;      &lt;Box style={{ flexDirection: 'row', gap: 14, alignItems: 'flex-start' }}&gt;&#10;        &lt;Text style={{ fontSize: 22, fontWeight: 'bold', color: '#1E4FA8', width: '48px' }}&gt;Q2&lt;/Text&gt;&#10;        &lt;Text style={{ fontSize: 19, color: '#1A2230', width: '480px', lineHeight: 1.5 }}&gt;&#10;          如何让面试官具备自主决策能力，而不是播放固定脚本？&#10;        &lt;/Text&gt;&#10;        &lt;Text style={{ fontSize: 18, color: '#4A5568', width: '600px', lineHeight: 1.5 }}&gt;&#10;          考核目标：构建「观察—思考—工具—观察—决策」循环，单轮最多 3 次工具调用，决策过程对用户可见。&#10;        &lt;/Text&gt;&#10;      &lt;/Box&gt;&#10;    &lt;/Box&gt;&#10;&#10;    &lt;Box style={{ flexDirection: 'column', gap: 10, paddingBottom: 16, borderBottom: '1px solid #E5E7EB' }}&gt;&#10;      &lt;Box style={{ flexDirection: 'row', gap: 14, alignItems: 'flex-start' }}&gt;&#10;        &lt;Text style={{ fontSize: 22, fontWeight: 'bold', color: '#1E4FA8', width: '48px' }}&gt;Q3&lt;/Text&gt;&#10;        &lt;Text style={{ fontSize: 19, color: '#1A2230', width: '480px', lineHeight: 1.5 }}&gt;&#10;          如何把一次面试的结果转化为可执行的提升方案？&#10;        &lt;/Text&gt;&#10;        &lt;Text style={{ fontSize: 18, color: '#4A5568', width: '600px', lineHeight: 1.5 }}&gt;&#10;          考核目标：由专职 Agent 产出逐题「该怎么答」与一周练习计划，报告生成 ≤ 30 秒。&#10;        &lt;/Text&gt;&#10;      &lt;/Box&gt;&#10;    &lt;/Box&gt;&#10;&#10;    &lt;Box style={{ flexDirection: 'row', gap: 24, marginTop: 6 }}&gt;&#10;      &lt;Box style={{ width: '360px', padding: '16px 18px', background: '#E8EFF8', flexDirection: 'column', gap: 8 }}&gt;&#10;        &lt;Text style={{ fontSize: 40, fontWeight: 'bold', color: '#1E4FA8' }}&gt;159&lt;/Text&gt;&#10;        &lt;Text style={{ fontSize: 16, color: '#4A5568' }}&gt;覆盖 3 个岗位的题库规模（题）&lt;/Text&gt;&#10;      &lt;/Box&gt;&#10;      &lt;Box style={{ width: '360px', padding: '16px 18px', background: '#E8EFF8', flexDirection: 'column', gap: 8 }}&gt;&#10;        &lt;Text style={{ fontSize: 40, fontWeight: 'bold', color: '#1E4FA8' }}&gt;0.041&lt;/Text&gt;&#10;        &lt;Text style={{ fontSize: 16, color: '#4A5568' }}&gt;语音识别实时率 RTF（目标 ≤ 0.5）&lt;/Text&gt;&#10;      &lt;/Box&gt;&#10;      &lt;Box style={{ width: '360px', padding: '16px 18px', background: '#E8EFF8', flexDirection: 'column', gap: 8 }}&gt;&#10;        &lt;Text style={{ fontSize: 40, fontWeight: 'bold', color: '#1E4FA8' }}&gt;9&lt;/Text&gt;&#10;        &lt;Text style={{ fontSize: 16, color: '#4A5568' }}&gt;对外开放的 MCP 工具数量（个）&lt;/Text&gt;&#10;      &lt;/Box&gt;&#10;    &lt;/Box&gt;&#10;  &lt;/Box&gt;&#10;&#10;  &lt;Box style={{ position: 'absolute', top: 670, left: 60, width: '1160px', flexDirection: 'row', justifyContent: 'space-between' }}&gt;&#10;    &lt;Text style={{ fontSize: 14, color: '#8B97A8' }}&gt;面镜 MockMirror · AI 模拟面试与能力提升软件&lt;/Text&gt;&#10;    &lt;Text style={{ fontSize: 14, color: '#8B97A8' }}&gt;04 / 2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研究问题与考核目标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0325100" y="78105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01 · Objectives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571500" y="1409700"/>
            <a:ext cx="11049000" cy="790575"/>
          </a:xfrm>
          <a:custGeom>
            <a:pathLst>
              <a:path w="1160" h="83">
                <a:moveTo>
                  <a:pt x="0" y="82"/>
                </a:moveTo>
                <a:lnTo>
                  <a:pt x="1160" y="82"/>
                </a:lnTo>
                <a:lnTo>
                  <a:pt x="1160" y="83"/>
                </a:lnTo>
                <a:lnTo>
                  <a:pt x="0" y="8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71500" y="1409700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Q1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162050" y="1409700"/>
            <a:ext cx="45720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如何在国内网络环境下实现可用的全语音面试交互？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5867400" y="1409700"/>
            <a:ext cx="5715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考核目标：本地离线识别引擎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浏览器识别回退，识别实时率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RTF ≤ 0.5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，断网可完成整场面试。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571500" y="2381250"/>
            <a:ext cx="11049000" cy="790575"/>
          </a:xfrm>
          <a:custGeom>
            <a:pathLst>
              <a:path w="1160" h="83">
                <a:moveTo>
                  <a:pt x="0" y="82"/>
                </a:moveTo>
                <a:lnTo>
                  <a:pt x="1160" y="82"/>
                </a:lnTo>
                <a:lnTo>
                  <a:pt x="1160" y="83"/>
                </a:lnTo>
                <a:lnTo>
                  <a:pt x="0" y="8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571500" y="2381250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Q2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1162050" y="2381250"/>
            <a:ext cx="45720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如何让面试官具备自主决策能力，而不是播放固定脚本？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5867400" y="2381250"/>
            <a:ext cx="5715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考核目标：构建「观察—思考—工具—观察—决策」循环，单轮最多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次工具调用，决策过程对用户可见。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571500" y="3352800"/>
            <a:ext cx="11049000" cy="790575"/>
          </a:xfrm>
          <a:custGeom>
            <a:pathLst>
              <a:path w="1160" h="83">
                <a:moveTo>
                  <a:pt x="0" y="82"/>
                </a:moveTo>
                <a:lnTo>
                  <a:pt x="1160" y="82"/>
                </a:lnTo>
                <a:lnTo>
                  <a:pt x="1160" y="83"/>
                </a:lnTo>
                <a:lnTo>
                  <a:pt x="0" y="8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571500" y="3352800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Q3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62050" y="3352800"/>
            <a:ext cx="45720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如何把一次面试的结果转化为可执行的提升方案？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5867400" y="3352800"/>
            <a:ext cx="5715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考核目标：由专职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产出逐题「该怎么答」与一周练习计划，报告生成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≤ 30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秒。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571500" y="4381500"/>
            <a:ext cx="3429000" cy="10287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42950" y="4533900"/>
            <a:ext cx="3086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159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42950" y="506730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覆盖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个岗位的题库规模（题）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4229100" y="4381500"/>
            <a:ext cx="3429000" cy="10287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4400550" y="4533900"/>
            <a:ext cx="3086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0.041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4400550" y="506730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语音识别实时率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RTF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（目标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≤ 0.5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7886700" y="4381500"/>
            <a:ext cx="3429000" cy="10287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8058150" y="4533900"/>
            <a:ext cx="3086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058150" y="506730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对外开放的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工具数量（个）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04 / 20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59" name="" descr="&lt;Slide style={{ width: '1280px', height: '720px', background: '#FFFFFF', padding: 0, fontFamily: 'Microsoft YaHei' }}&gt;&#10;  &lt;Box style={{ position: 'absolute', top: 60, left: 60, width: '1160px', height: '64px', background: '#1E4FA8', flexDirection: 'row', alignItems: 'center', justifyContent: 'space-between', padding: '0 24px' }}&gt;&#10;    &lt;Text style={{ fontSize: 32, fontWeight: 'bold', color: '#FFFFFF' }}&gt;系统功能架构&lt;/Text&gt;&#10;    &lt;Text style={{ fontSize: 16, color: '#C7D8F5' }}&gt;02 · Functions&lt;/Text&gt;&#10;  &lt;/Box&gt;&#10;&#10;  &lt;Box style={{ position: 'absolute', top: 148, left: 60, width: '1160px', flexDirection: 'column', gap: 20 }}&gt;&#10;    &lt;Box style={{ flexDirection: 'row', gap: 20 }}&gt;&#10;      &lt;Box style={{ width: '275px', padding: '16px', border: '1px solid #D6DCE5', flexDirection: 'column', gap: 8 }}&gt;&#10;        &lt;Text style={{ fontSize: 20, fontWeight: 'bold', color: '#1E4FA8' }}&gt;F1 用户与会话&lt;/Text&gt;&#10;        &lt;Text style={{ fontSize: 15, color: '#4A5568', lineHeight: 1.5 }}&gt;登录鉴权、面试生命周期管理、历史记录与回放&lt;/Text&gt;&#10;      &lt;/Box&gt;&#10;      &lt;Box style={{ width: '275px', padding: '16px', border: '1px solid #D6DCE5', flexDirection: 'column', gap: 8 }}&gt;&#10;        &lt;Text style={{ fontSize: 20, fontWeight: 'bold', color: '#1E4FA8' }}&gt;F2 岗位与题库&lt;/Text&gt;&#10;        &lt;Text style={{ fontSize: 15, color: '#4A5568', lineHeight: 1.5 }}&gt;3 岗位 159 题，含考察点与回答思路，随机组卷&lt;/Text&gt;&#10;      &lt;/Box&gt;&#10;      &lt;Box style={{ width: '275px', padding: '16px', border: '1px solid #D6DCE5', flexDirection: 'column', gap: 8 }}&gt;&#10;        &lt;Text style={{ fontSize: 20, fontWeight: 'bold', color: '#1E4FA8' }}&gt;F3 语音交互&lt;/Text&gt;&#10;        &lt;Text style={{ fontSize: 15, color: '#4A5568', lineHeight: 1.5 }}&gt;设备选择、离线流式识别、说完自动提交、可打断&lt;/Text&gt;&#10;      &lt;/Box&gt;&#10;      &lt;Box style={{ width: '275px', padding: '16px', border: '1px solid #D6DCE5', flexDirection: 'column', gap: 8 }}&gt;&#10;        &lt;Text style={{ fontSize: 20, fontWeight: 'bold', color: '#1E4FA8' }}&gt;F4 面试官 Agent&lt;/Text&gt;&#10;        &lt;Text style={{ fontSize: 15, color: '#4A5568', lineHeight: 1.5 }}&gt;工具调用与自主决策：追问、深挖、换题、收尾&lt;/Text&gt;&#10;      &lt;/Box&gt;&#10;    &lt;/Box&gt;&#10;&#10;    &lt;Box style={{ flexDirection: 'row', gap: 20 }}&gt;&#10;      &lt;Box style={{ width: '275px', padding: '16px', border: '1px solid #D6DCE5', flexDirection: 'column', gap: 8 }}&gt;&#10;        &lt;Text style={{ fontSize: 20, fontWeight: 'bold', color: '#1E4FA8' }}&gt;F5 多 Agent 协作&lt;/Text&gt;&#10;        &lt;Text style={{ fontSize: 15, color: '#4A5568', lineHeight: 1.5 }}&gt;评估官复核打分、陪练官出计划、出题官按 JD 出题&lt;/Text&gt;&#10;      &lt;/Box&gt;&#10;      &lt;Box style={{ width: '275px', padding: '16px', border: '1px solid #D6DCE5', flexDirection: 'column', gap: 8 }}&gt;&#10;        &lt;Text style={{ fontSize: 20, fontWeight: 'bold', color: '#1E4FA8' }}&gt;F6 行为观察&lt;/Text&gt;&#10;        &lt;Text style={{ fontSize: 15, color: '#4A5568', lineHeight: 1.5 }}&gt;摄像头本地视觉分析，统计抬头率与紧张度&lt;/Text&gt;&#10;      &lt;/Box&gt;&#10;      &lt;Box style={{ width: '275px', padding: '16px', border: '1px solid #D6DCE5', flexDirection: 'column', gap: 8 }}&gt;&#10;        &lt;Text style={{ fontSize: 20, fontWeight: 'bold', color: '#1E4FA8' }}&gt;F7 评估与提升&lt;/Text&gt;&#10;        &lt;Text style={{ fontSize: 15, color: '#4A5568', lineHeight: 1.5 }}&gt;多维度报告、全程回放、跨场次能力成长曲线&lt;/Text&gt;&#10;      &lt;/Box&gt;&#10;      &lt;Box style={{ width: '275px', padding: '16px', border: '1px solid #D6DCE5', flexDirection: 'column', gap: 8 }}&gt;&#10;        &lt;Text style={{ fontSize: 20, fontWeight: 'bold', color: '#1E4FA8' }}&gt;F8 / F9 管理与开放&lt;/Text&gt;&#10;        &lt;Text style={{ fontSize: 15, color: '#4A5568', lineHeight: 1.5 }}&gt;管理后台统计审计；MCP 协议对外开放面试能力&lt;/Text&gt;&#10;      &lt;/Box&gt;&#10;    &lt;/Box&gt;&#10;&#10;    &lt;Box style={{ flexDirection: 'row', gap: 20, marginTop: 4 }}&gt;&#10;      &lt;Box style={{ width: '566px', padding: '16px 18px', background: '#E8EFF8', flexDirection: 'column', gap: 6 }}&gt;&#10;        &lt;Text style={{ fontSize: 17, color: '#1A2230', lineHeight: 1.5 }}&gt;&#10;          &lt;span style={{ fontWeight: 'bold' }}&gt;全语音闭环：&lt;/span&gt;选择岗位 → 设备检测 → 开口作答 → 自动提交 → Agent 决策 → 出报告，全程无需键盘输入。&#10;        &lt;/Text&gt;&#10;      &lt;/Box&gt;&#10;      &lt;Box style={{ width: '566px', padding: '16px 18px', background: '#F7F9FC', border: '1px solid #D6DCE5', flexDirection: 'column', gap: 6 }}&gt;&#10;        &lt;Text style={{ fontSize: 17, color: '#1A2230', lineHeight: 1.5 }}&gt;&#10;          &lt;span style={{ fontWeight: 'bold' }}&gt;能力闭环：&lt;/span&gt;逐题给出「该怎么答」，再由陪练官生成一周练习计划，形成可持续的能力提升路径。&#10;        &lt;/Text&gt;&#10;      &lt;/Box&gt;&#10;    &lt;/Box&gt;&#10;  &lt;/Box&gt;&#10;&#10;  &lt;Box style={{ position: 'absolute', top: 670, left: 60, width: '1160px', flexDirection: 'row', justifyContent: 'space-between' }}&gt;&#10;    &lt;Text style={{ fontSize: 14, color: '#8B97A8' }}&gt;面镜 MockMirror · AI 模拟面试与能力提升软件&lt;/Text&gt;&#10;    &lt;Text style={{ fontSize: 14, color: '#8B97A8' }}&gt;05 / 2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1828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系统功能架构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10382250" y="781050"/>
            <a:ext cx="100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02 · Functions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571500" y="1409700"/>
            <a:ext cx="2619375" cy="11239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723900" y="1562100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F1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用户与会话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723900" y="1866900"/>
            <a:ext cx="2314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登录鉴权、面试生命周期管理、历史记录与回放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3381375" y="1409700"/>
            <a:ext cx="2619375" cy="11239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3533775" y="1562100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F2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岗位与题库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3533775" y="1866900"/>
            <a:ext cx="2314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岗位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159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题，含考察点与回答思路，随机组卷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191250" y="1409700"/>
            <a:ext cx="2619375" cy="11239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343650" y="1562100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F3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语音交互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343650" y="1866900"/>
            <a:ext cx="2314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设备选择、离线流式识别、说完自动提交、可打断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9001125" y="1409700"/>
            <a:ext cx="2619375" cy="11239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9153525" y="1562100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F4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面试官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9153525" y="1866900"/>
            <a:ext cx="2314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工具调用与自主决策：追问、深挖、换题、收尾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571500" y="2724150"/>
            <a:ext cx="2619375" cy="11239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723900" y="2876550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F5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多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协作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723900" y="3181350"/>
            <a:ext cx="2314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评估官复核打分、陪练官出计划、出题官按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JD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出题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3381375" y="2724150"/>
            <a:ext cx="2619375" cy="11239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3533775" y="2876550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F6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行为观察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3533775" y="3181350"/>
            <a:ext cx="2314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摄像头本地视觉分析，统计抬头率与紧张度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191250" y="2724150"/>
            <a:ext cx="2619375" cy="11239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343650" y="2876550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F7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评估与提升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343650" y="3181350"/>
            <a:ext cx="2314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多维度报告、全程回放、跨场次能力成长曲线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9001125" y="2724150"/>
            <a:ext cx="2619375" cy="11239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9153525" y="2876550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F8 / F9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管理与开放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9153525" y="3181350"/>
            <a:ext cx="2314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管理后台统计审计；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协议对外开放面试能力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571500" y="4076700"/>
            <a:ext cx="5391150" cy="8953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742950" y="4229100"/>
            <a:ext cx="5048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全语音闭环：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选择岗位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设备检测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开口作答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自动提交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Agent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决策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出报告，全程无需键盘输入。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153150" y="4076700"/>
            <a:ext cx="5391150" cy="8953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324600" y="4229100"/>
            <a:ext cx="5048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能力闭环：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逐题给出「该怎么答」，再由陪练官生成一周练习计划，形成可持续的能力提升路径。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05 / 20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94" name="" descr="&lt;Slide style={{ width: '1280px', height: '720px', background: '#FFFFFF', padding: 0, fontFamily: 'Microsoft YaHei' }}&gt;&#10;  &lt;Box style={{ position: 'absolute', top: 60, left: 60, width: '1160px', height: '64px', background: '#1E4FA8', flexDirection: 'row', alignItems: 'center', justifyContent: 'space-between', padding: '0 24px' }}&gt;&#10;    &lt;Text style={{ fontSize: 32, fontWeight: 'bold', color: '#FFFFFF' }}&gt;技术架构：五层与依赖&lt;/Text&gt;&#10;    &lt;Text style={{ fontSize: 16, color: '#C7D8F5' }}&gt;02 · Architecture&lt;/Text&gt;&#10;  &lt;/Box&gt;&#10;&#10;  &lt;Box style={{ position: 'absolute', top: 148, left: 60, width: '1160px', flexDirection: 'column', gap: 12 }}&gt;&#10;    &lt;Box style={{ flexDirection: 'row', alignItems: 'stretch', height: '76px' }}&gt;&#10;      &lt;Box style={{ width: '150px', background: '#1E4FA8', alignItems: 'center', justifyContent: 'center' }}&gt;&#10;        &lt;Text style={{ fontSize: 19, fontWeight: 'bold', color: '#FFFFFF' }}&gt;表现层&lt;/Text&gt;&#10;      &lt;/Box&gt;&#10;      &lt;Box style={{ width: '1010px', padding: '12px 18px', border: '1px solid #D6DCE5', justifyContent: 'center' }}&gt;&#10;        &lt;Text style={{ fontSize: 16, color: '#1A2230', lineHeight: 1.5 }}&gt;&#10;          原生 HTML / CSS / JS（486 + 664 + 2143 行）：面试间、Agent 工作台、报告页、音频采集与本地视觉分析&#10;        &lt;/Text&gt;&#10;      &lt;/Box&gt;&#10;    &lt;/Box&gt;&#10;&#10;    &lt;Box style={{ flexDirection: 'row', alignItems: 'stretch', height: '76px' }}&gt;&#10;      &lt;Box style={{ width: '150px', background: '#3D7BD9', alignItems: 'center', justifyContent: 'center' }}&gt;&#10;        &lt;Text style={{ fontSize: 19, fontWeight: 'bold', color: '#FFFFFF' }}&gt;接口层&lt;/Text&gt;&#10;      &lt;/Box&gt;&#10;      &lt;Box style={{ width: '1010px', padding: '12px 18px', border: '1px solid #D6DCE5', justifyContent: 'center' }}&gt;&#10;        &lt;Text style={{ fontSize: 16, color: '#1A2230', lineHeight: 1.5 }}&gt;&#10;          原生 HTTP 服务（393 行）：27 个 REST 路由、静态资源、登录鉴权与审计，请求体上限 5 MB&#10;        &lt;/Text&gt;&#10;      &lt;/Box&gt;&#10;    &lt;/Box&gt;&#10;&#10;    &lt;Box style={{ flexDirection: 'row', alignItems: 'stretch', height: '112px' }}&gt;&#10;      &lt;Box style={{ width: '150px', background: '#1E4FA8', alignItems: 'center', justifyContent: 'center' }}&gt;&#10;        &lt;Text style={{ fontSize: 19, fontWeight: 'bold', color: '#FFFFFF' }}&gt;领域层&lt;/Text&gt;&#10;      &lt;/Box&gt;&#10;      &lt;Box style={{ width: '1010px', padding: '12px 18px', border: '1px solid #D6DCE5', justifyContent: 'center' }}&gt;&#10;        &lt;Text style={{ fontSize: 16, color: '#1A2230', lineHeight: 1.5 }}&gt;&#10;          面试状态机 273 · 面试官 Agent 254 · Agent 团队 276 · 大模型适配 593 · 题库 126 · 检索 79 · 语音 131 · 术语 170 · 存储 316（行）&#10;        &lt;/Text&gt;&#10;      &lt;/Box&gt;&#10;    &lt;/Box&gt;&#10;&#10;    &lt;Box style={{ flexDirection: 'row', alignItems: 'stretch', height: '76px' }}&gt;&#10;      &lt;Box style={{ width: '150px', background: '#3D7BD9', alignItems: 'center', justifyContent: 'center' }}&gt;&#10;        &lt;Text style={{ fontSize: 19, fontWeight: 'bold', color: '#FFFFFF' }}&gt;数据层&lt;/Text&gt;&#10;      &lt;/Box&gt;&#10;      &lt;Box style={{ width: '1010px', padding: '12px 18px', border: '1px solid #D6DCE5', justifyContent: 'center' }}&gt;&#10;        &lt;Text style={{ fontSize: 16, color: '#1A2230', lineHeight: 1.5 }}&gt;&#10;          单文件 JSON 存储 + 原子写（临时文件 → 重命名）+ schema 版本迁移与备份；题库与知识库为数据文件&#10;        &lt;/Text&gt;&#10;      &lt;/Box&gt;&#10;    &lt;/Box&gt;&#10;&#10;    &lt;Box style={{ flexDirection: 'row', alignItems: 'stretch', height: '76px' }}&gt;&#10;      &lt;Box style={{ width: '150px', background: '#1E4FA8', alignItems: 'center', justifyContent: 'center' }}&gt;&#10;        &lt;Text style={{ fontSize: 19, fontWeight: 'bold', color: '#FFFFFF' }}&gt;开放层&lt;/Text&gt;&#10;      &lt;/Box&gt;&#10;      &lt;Box style={{ width: '1010px', padding: '12px 18px', border: '1px solid #D6DCE5', justifyContent: 'center' }}&gt;&#10;        &lt;Text style={{ fontSize: 16, color: '#1A2230', lineHeight: 1.5 }}&gt;&#10;          零依赖 MCP Server（534 行，stdio）：写状态转发本机服务保证单一写入方，只读能力直读文件&#10;        &lt;/Text&gt;&#10;      &lt;/Box&gt;&#10;    &lt;/Box&gt;&#10;&#10;    &lt;Box style={{ padding: '14px 18px', background: '#E8EFF8', flexDirection: 'column', gap: 4 }}&gt;&#10;      &lt;Text style={{ fontSize: 17, color: '#1A2230', lineHeight: 1.5 }}&gt;&#10;        &lt;span style={{ fontWeight: 'bold', color: '#D9534F' }}&gt;关键取舍：&lt;/span&gt;&#10;        服务端不引入任何第三方 npm 包，全部使用 Node 内置模块。这是「clone 后双击即跑」这一交付约束的直接结果——安装失败与环境差异被彻底消除。&#10;      &lt;/Text&gt;&#10;    &lt;/Box&gt;&#10;  &lt;/Box&gt;&#10;&#10;  &lt;Box style={{ position: 'absolute', top: 670, left: 60, width: '1160px', flexDirection: 'row', justifyContent: 'space-between' }}&gt;&#10;    &lt;Text style={{ fontSize: 14, color: '#8B97A8' }}&gt;面镜 MockMirror · AI 模拟面试与能力提升软件&lt;/Text&gt;&#10;    &lt;Text style={{ fontSize: 14, color: '#8B97A8' }}&gt;06 / 2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技术架构：五层与依赖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10191750" y="781050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02 · Architecture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571500" y="1409700"/>
            <a:ext cx="1428750" cy="723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1019175" y="166687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表现层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2000250" y="1409700"/>
            <a:ext cx="9620250" cy="7239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2171700" y="1638300"/>
            <a:ext cx="9277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原生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HTML / CSS / JS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486 + 664 + 2143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行）：面试间、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工作台、报告页、音频采集与本地视觉分析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571500" y="2247900"/>
            <a:ext cx="1428750" cy="7239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019175" y="250507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接口层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2000250" y="2247900"/>
            <a:ext cx="9620250" cy="7239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2171700" y="2476500"/>
            <a:ext cx="9277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原生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HTTP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服务（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393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行）：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27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个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REST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路由、静态资源、登录鉴权与审计，请求体上限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5 MB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571500" y="3086100"/>
            <a:ext cx="1428750" cy="1066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1019175" y="351472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领域层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2000250" y="3086100"/>
            <a:ext cx="9620250" cy="10668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2171700" y="3486150"/>
            <a:ext cx="9277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面试状态机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273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面试官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Agent 254 · Agent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团队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276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大模型适配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593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题库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126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检索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79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语音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131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术语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170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存储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316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（行）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571500" y="4267200"/>
            <a:ext cx="1428750" cy="7239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019175" y="452437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数据层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2000250" y="4267200"/>
            <a:ext cx="9620250" cy="7239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2171700" y="4495800"/>
            <a:ext cx="9277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单文件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存储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原子写（临时文件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重命名）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+ schema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版本迁移与备份；题库与知识库为数据文件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571500" y="5105400"/>
            <a:ext cx="1428750" cy="723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019175" y="536257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开放层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2000250" y="5105400"/>
            <a:ext cx="9620250" cy="7239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2171700" y="5334000"/>
            <a:ext cx="9277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零依赖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MCP Server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534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行，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stdio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）：写状态转发本机服务保证单一写入方，只读能力直读文件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571500" y="5943600"/>
            <a:ext cx="11049000" cy="8572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742950" y="6076950"/>
            <a:ext cx="10706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关键取舍：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服务端不引入任何第三方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npm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包，全部使用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Node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内置模块。这是「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clone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后双击即跑」这一交付约束的直接结果——安装失败与环境差异被彻底消除。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06 / 20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23" name="" descr="&lt;Slide style={{ width: '1280px', height: '720px', background: '#FFFFFF', padding: 0, fontFamily: 'Microsoft YaHei' }}&gt;&#10;  &lt;Box style={{ position: 'absolute', top: 60, left: 60, width: '1160px', height: '64px', background: '#1E4FA8', flexDirection: 'row', alignItems: 'center', justifyContent: 'space-between', padding: '0 24px' }}&gt;&#10;    &lt;Text style={{ fontSize: 32, fontWeight: 'bold', color: '#FFFFFF' }}&gt;创新一：面试官 Agent 的自主决策循环&lt;/Text&gt;&#10;    &lt;Text style={{ fontSize: 16, color: '#C7D8F5' }}&gt;03 · Agent Loop&lt;/Text&gt;&#10;  &lt;/Box&gt;&#10;&#10;  &lt;Box style={{ position: 'absolute', top: 148, left: 60, width: '1160px', flexDirection: 'row', gap: 28 }}&gt;&#10;    &lt;Box style={{ width: '520px', flexDirection: 'column', gap: 10 }}&gt;&#10;      &lt;Box style={{ flexDirection: 'row', alignItems: 'center', gap: 12 }}&gt;&#10;        &lt;Box style={{ width: '34px', height: '34px', background: '#1E4FA8', alignItems: 'center', justifyContent: 'center' }}&gt;&#10;          &lt;Text style={{ fontSize: 16, fontWeight: 'bold', color: '#FFFFFF' }}&gt;1&lt;/Text&gt;&#10;        &lt;/Box&gt;&#10;        &lt;Box style={{ flexDirection: 'column' }}&gt;&#10;          &lt;Text style={{ fontSize: 20, fontWeight: 'bold', color: '#1A2230' }}&gt;观察&lt;/Text&gt;&#10;          &lt;Text style={{ fontSize: 15, color: '#4A5568' }}&gt;当前题、考察点、回答、已问题目、历史记忆、进度&lt;/Text&gt;&#10;        &lt;/Box&gt;&#10;      &lt;/Box&gt;&#10;      &lt;Box style={{ width: '2px', height: '12px', background: '#D6DCE5', marginLeft: '16px' }} /&gt;&#10;      &lt;Box style={{ flexDirection: 'row', alignItems: 'center', gap: 12 }}&gt;&#10;        &lt;Box style={{ width: '34px', height: '34px', background: '#1E4FA8', alignItems: 'center', justifyContent: 'center' }}&gt;&#10;          &lt;Text style={{ fontSize: 16, fontWeight: 'bold', color: '#FFFFFF' }}&gt;2&lt;/Text&gt;&#10;        &lt;/Box&gt;&#10;        &lt;Box style={{ flexDirection: 'column' }}&gt;&#10;          &lt;Text style={{ fontSize: 20, fontWeight: 'bold', color: '#1A2230' }}&gt;思考&lt;/Text&gt;&#10;          &lt;Text style={{ fontSize: 15, color: '#4A5568' }}&gt;输出 thought（这一段会展示给用户看）&lt;/Text&gt;&#10;        &lt;/Box&gt;&#10;      &lt;/Box&gt;&#10;      &lt;Box style={{ width: '2px', height: '12px', background: '#D6DCE5', marginLeft: '16px' }} /&gt;&#10;      &lt;Box style={{ flexDirection: 'row', alignItems: 'flex-start', gap: 12 }}&gt;&#10;        &lt;Box style={{ width: '34px', height: '34px', background: '#D9534F', alignItems: 'center', justifyContent: 'center' }}&gt;&#10;          &lt;Text style={{ fontSize: 16, fontWeight: 'bold', color: '#FFFFFF' }}&gt;3&lt;/Text&gt;&#10;        &lt;/Box&gt;&#10;        &lt;Box style={{ flexDirection: 'column' }}&gt;&#10;          &lt;Text style={{ fontSize: 20, fontWeight: 'bold', color: '#1A2230' }}&gt;调用工具&lt;/Text&gt;&#10;          &lt;Text style={{ fontSize: 15, color: '#4A5568' }}&gt;从 5 个工具中自主选择并给出参数&lt;/Text&gt;&#10;        &lt;/Box&gt;&#10;      &lt;/Box&gt;&#10;      &lt;Box style={{ width: '2px', height: '12px', background: '#D6DCE5', marginLeft: '16px' }} /&gt;&#10;      &lt;Box style={{ flexDirection: 'row', alignItems: 'center', gap: 12 }}&gt;&#10;        &lt;Box style={{ width: '34px', height: '34px', background: '#1E4FA8', alignItems: 'center', justifyContent: 'center' }}&gt;&#10;          &lt;Text style={{ fontSize: 16, fontWeight: 'bold', color: '#FFFFFF' }}&gt;4&lt;/Text&gt;&#10;        &lt;/Box&gt;&#10;        &lt;Box style={{ flexDirection: 'column' }}&gt;&#10;          &lt;Text style={{ fontSize: 20, fontWeight: 'bold', color: '#1A2230' }}&gt;观察工具返回&lt;/Text&gt;&#10;          &lt;Text style={{ fontSize: 15, color: '#4A5568' }}&gt;作为 observation 回灌上下文，再次思考&lt;/Text&gt;&#10;        &lt;/Box&gt;&#10;      &lt;/Box&gt;&#10;      &lt;Box style={{ width: '2px', height: '12px', background: '#D6DCE5', marginLeft: '16px' }} /&gt;&#10;      &lt;Box style={{ flexDirection: 'row', alignItems: 'center', gap: 12 }}&gt;&#10;        &lt;Box style={{ width: '34px', height: '34px', background: '#1E4FA8', alignItems: 'center', justifyContent: 'center' }}&gt;&#10;          &lt;Text style={{ fontSize: 16, fontWeight: 'bold', color: '#FFFFFF' }}&gt;5&lt;/Text&gt;&#10;        &lt;/Box&gt;&#10;        &lt;Box style={{ flexDirection: 'column' }}&gt;&#10;          &lt;Text style={{ fontSize: 20, fontWeight: 'bold', color: '#1A2230' }}&gt;输出决策&lt;/Text&gt;&#10;          &lt;Text style={{ fontSize: 15, color: '#4A5568' }}&gt;追问 / 深挖 / 换题降难度 / 点评后进入下一题&lt;/Text&gt;&#10;        &lt;/Box&gt;&#10;      &lt;/Box&gt;&#10;    &lt;/Box&gt;&#10;&#10;    &lt;Box style={{ width: '1px', background: '#D6DCE5' }} /&gt;&#10;&#10;    &lt;Box style={{ width: '580px', flexDirection: 'column', gap: 12 }}&gt;&#10;      &lt;Text style={{ fontSize: 22, fontWeight: 'bold', color: '#1E4FA8' }}&gt;可调用工具集&lt;/Text&gt;&#10;      &lt;Box style={{ padding: '10px 14px', background: '#F7F9FC', border: '1px solid #D6DCE5' }}&gt;&#10;        &lt;Text style={{ fontSize: 16, color: '#1A2230', lineHeight: 1.5 }}&gt;&#10;          &lt;span style={{ fontWeight: 'bold' }}&gt;analyze_answer&lt;/span&gt; · 调用大模型分析命中 / 缺失的考察点、深度 1-5、是否含糊&#10;        &lt;/Text&gt;&#10;      &lt;/Box&gt;&#10;      &lt;Box style={{ padding: '10px 14px', background: '#F7F9FC', border: '1px solid #D6DCE5' }}&gt;&#10;        &lt;Text style={{ fontSize: 16, color: '#1A2230', lineHeight: 1.5 }}&gt;&#10;          &lt;span style={{ fontWeight: 'bold' }}&gt;search_knowledge&lt;/span&gt; · 真实 BM25 检索岗位知识库（非向量模型，毫秒级）&#10;        &lt;/Text&gt;&#10;      &lt;/Box&gt;&#10;      &lt;Box style={{ padding: '10px 14px', background: '#F7F9FC', border: '1px solid #D6DCE5' }}&gt;&#10;        &lt;Text style={{ fontSize: 16, color: '#1A2230', lineHeight: 1.5 }}&gt;&#10;          &lt;span style={{ fontWeight: 'bold' }}&gt;find_question&lt;/span&gt; · 按知识点从未问题目中动态挑题（收尾阶段禁用）&#10;        &lt;/Text&gt;&#10;      &lt;/Box&gt;&#10;      &lt;Box style={{ padding: '10px 14px', background: '#F7F9FC', border: '1px solid #D6DCE5' }}&gt;&#10;        &lt;Text style={{ fontSize: 16, color: '#1A2230', lineHeight: 1.5 }}&gt;&#10;          &lt;span style={{ fontWeight: 'bold' }}&gt;record_observation&lt;/span&gt; · 记录候选人画像，影响后续提问与最终报告&#10;        &lt;/Text&gt;&#10;      &lt;/Box&gt;&#10;      &lt;Box style={{ padding: '10px 14px', background: '#F7F9FC', border: '1px solid #D6DCE5' }}&gt;&#10;        &lt;Text style={{ fontSize: 16, color: '#1A2230', lineHeight: 1.5 }}&gt;&#10;          &lt;span style={{ fontWeight: 'bold' }}&gt;adjust_plan&lt;/span&gt; · 调整后续计划：deepen（深挖）/ skip（跳过）/ switch（换方向）&#10;        &lt;/Text&gt;&#10;      &lt;/Box&gt;&#10;      &lt;Box style={{ padding: '12px 14px', background: '#E8EFF8' }}&gt;&#10;        &lt;Text style={{ fontSize: 16, color: '#1A2230', lineHeight: 1.5 }}&gt;&#10;          &lt;span style={{ fontWeight: 'bold', color: '#D9534F' }}&gt;约束：&lt;/span&gt;单轮最多 3 步；已追问一次不得追问第二层；最后一题禁止换题——保证面试一定收得了尾。&#10;        &lt;/Text&gt;&#10;      &lt;/Box&gt;&#10;    &lt;/Box&gt;&#10;  &lt;/Box&gt;&#10;&#10;  &lt;Box style={{ position: 'absolute', top: 670, left: 60, width: '1160px', flexDirection: 'row', justifyContent: 'space-between' }}&gt;&#10;    &lt;Text style={{ fontSize: 14, color: '#8B97A8' }}&gt;面镜 MockMirror · AI 模拟面试与能力提升软件&lt;/Text&gt;&#10;    &lt;Text style={{ fontSize: 14, color: '#8B97A8' }}&gt;07 / 2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5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53816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创新一：面试官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的自主决策循环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0229850" y="781050"/>
            <a:ext cx="1162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03 · Agent Loop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571500" y="144780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685800" y="15144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009650" y="1409700"/>
            <a:ext cx="3286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观察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009650" y="1638300"/>
            <a:ext cx="328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当前题、考察点、回答、已问题目、历史记忆、进度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723900" y="1905000"/>
            <a:ext cx="19050" cy="1143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33" name=""/>
          <p:cNvSpPr/>
          <p:nvPr/>
        </p:nvSpPr>
        <p:spPr>
          <a:xfrm rot="0" flipH="0" flipV="0">
            <a:off x="571500" y="215265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85800" y="22193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009650" y="2114550"/>
            <a:ext cx="2600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思考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1009650" y="2343150"/>
            <a:ext cx="2600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输出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thought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（这一段会展示给用户看）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723900" y="2609850"/>
            <a:ext cx="19050" cy="1143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38" name=""/>
          <p:cNvSpPr/>
          <p:nvPr/>
        </p:nvSpPr>
        <p:spPr>
          <a:xfrm rot="0" flipH="0" flipV="0">
            <a:off x="571500" y="2819400"/>
            <a:ext cx="323850" cy="3238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685800" y="28860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009650" y="2819400"/>
            <a:ext cx="217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调用工具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009650" y="3048000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个工具中自主选择并给出参数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723900" y="3314700"/>
            <a:ext cx="19050" cy="1143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571500" y="356235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85800" y="36290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1009650" y="3524250"/>
            <a:ext cx="2619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观察工具返回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1009650" y="3752850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作为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observation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回灌上下文，再次思考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723900" y="4019550"/>
            <a:ext cx="19050" cy="1143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48" name=""/>
          <p:cNvSpPr/>
          <p:nvPr/>
        </p:nvSpPr>
        <p:spPr>
          <a:xfrm rot="0" flipH="0" flipV="0">
            <a:off x="571500" y="426720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685800" y="43338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009650" y="4229100"/>
            <a:ext cx="2867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输出决策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009650" y="4457700"/>
            <a:ext cx="2867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追问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深挖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换题降难度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点评后进入下一题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5791200" y="1409700"/>
            <a:ext cx="9525" cy="46101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6067425" y="1409700"/>
            <a:ext cx="552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可调用工具集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067425" y="1781175"/>
            <a:ext cx="5524500" cy="742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200775" y="1876425"/>
            <a:ext cx="5257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analyze_answer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调用大模型分析命中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缺失的考察点、深度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1-5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、是否含糊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6067425" y="2638425"/>
            <a:ext cx="5524500" cy="46672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200775" y="2733675"/>
            <a:ext cx="5257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search_knowledge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真实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BM25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检索岗位知识库（非向量模型，毫秒级）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6067425" y="3219450"/>
            <a:ext cx="5524500" cy="46672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6200775" y="3314700"/>
            <a:ext cx="5257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find_question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按知识点从未问题目中动态挑题（收尾阶段禁用）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6067425" y="3800475"/>
            <a:ext cx="5524500" cy="46672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200775" y="3895725"/>
            <a:ext cx="5257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record_observation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记录候选人画像，影响后续提问与最终报告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067425" y="4381500"/>
            <a:ext cx="5524500" cy="742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6200775" y="4476750"/>
            <a:ext cx="5257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adjust_plan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调整后续计划：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deepen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（深挖）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/ skip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（跳过）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/ switch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（换方向）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6067425" y="5238750"/>
            <a:ext cx="5524500" cy="7810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200775" y="5353050"/>
            <a:ext cx="5257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D9534F"/>
                </a:solidFill>
                <a:latin typeface="Microsoft YaHei"/>
                <a:ea typeface="Microsoft YaHei"/>
              </a:rPr>
              <a:t>约束：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单轮最多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步；已追问一次不得追问第二层；最后一题禁止换题——保证面试一定收得了尾。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07 / 20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68" name="" descr="&lt;Slide style={{ width: '1280px', height: '720px', background: '#FFFFFF', padding: 0, fontFamily: 'Microsoft YaHei' }}&gt;&#13;&#10;  &lt;Box style={{ position: 'absolute', top: 60, left: 60, width: '1160px', height: '64px', background: '#1E4FA8', flexDirection: 'row', alignItems: 'center', justifyContent: 'space-between', padding: '0 24px' }}&gt;&#13;&#10;    &lt;Text style={{ fontSize: 32, fontWeight: 'bold', color: '#FFFFFF' }}&gt;创新二：把决策过程显式呈现给使用者&lt;/Text&gt;&#13;&#10;    &lt;Text style={{ fontSize: 16, color: '#C7D8F5' }}&gt;03 · Transparency&lt;/Text&gt;&#13;&#10;  &lt;/Box&gt;&#13;&#10;&#13;&#10;  &lt;Box style={{ position: 'absolute', top: 148, left: 60, width: '1160px', flexDirection: 'column', gap: 18 }}&gt;&#13;&#10;    &lt;Box style={{ padding: '12px 18px', background: '#E8EFF8', borderLeft: '4px solid #1E4FA8' }}&gt;&#13;&#10;      &lt;Text style={{ fontSize: 18, color: '#1A2230', lineHeight: 1.5 }}&gt;&#13;&#10;        界面「Agent 工作台」实时渲染角色卡与决策卡：第几次决策、它在想什么、调了什么工具、工具返回了什么、因此说了什么。&#13;&#10;      &lt;/Text&gt;&#13;&#10;    &lt;/Box&gt;&#13;&#10;&#13;&#10;    &lt;Box style={{ flexDirection: 'row', gap: 18 }}&gt;&#13;&#10;      &lt;Box style={{ width: '276px', padding: '14px', border: '1px solid #D6DCE5', flexDirection: 'column', gap: 8 }}&gt;&#13;&#10;        &lt;Box style={{ flexDirection: 'row', alignItems: 'center', gap: 8 }}&gt;&#13;&#10;          &lt;Box style={{ width: '10px', height: '10px', background: '#1E4FA8' }} /&gt;&#13;&#10;          &lt;Text style={{ fontSize: 18, fontWeight: 'bold', color: '#1E4FA8' }}&gt;面试官&lt;/Text&gt;&#13;&#10;        &lt;/Box&gt;&#13;&#10;        &lt;Text style={{ fontSize: 15, color: '#4A5568', lineHeight: 1.5 }}&gt;主持对话：追问、深挖、换题、收尾&lt;/Text&gt;&#13;&#10;      &lt;/Box&gt;&#13;&#10;      &lt;Box style={{ width: '276px', padding: '14px', border: '1px solid #D6DCE5', flexDirection: 'column', gap: 8 }}&gt;&#13;&#10;        &lt;Box style={{ flexDirection: 'row', alignItems: 'center', gap: 8 }}&gt;&#13;&#10;          &lt;Box style={{ width: '10px', height: '10px', background: '#D9534F' }} /&gt;&#13;&#10;          &lt;Text style={{ fontSize: 18, fontWeight: 'bold', color: '#1E4FA8' }}&gt;评估官&lt;/Text&gt;&#13;&#10;        &lt;/Box&gt;&#13;&#10;        &lt;Text style={{ fontSize: 15, color: '#4A5568', lineHeight: 1.5 }}&gt;逐题复核并修正评分（限幅 ±15 分）&lt;/Text&gt;&#13;&#10;      &lt;/Box&gt;&#13;&#10;      &lt;Box style={{ width: '276px', padding: '14px', border: '1px solid #D6DCE5', flexDirection: 'column', gap: 8 }}&gt;&#13;&#10;        &lt;Box style={{ flexDirection: 'row', alignItems: 'center', gap: 8 }}&gt;&#13;&#10;          &lt;Box style={{ width: '10px', height: '10px', background: '#8B97A8' }} /&gt;&#13;&#10;          &lt;Text style={{ fontSize: 18, fontWeight: 'bold', color: '#1E4FA8' }}&gt;陪练官&lt;/Text&gt;&#13;&#10;        &lt;/Box&gt;&#13;&#10;        &lt;Text style={{ fontSize: 15, color: '#4A5568', lineHeight: 1.5 }}&gt;生成一周计划与针对性练习题&lt;/Text&gt;&#13;&#10;      &lt;/Box&gt;&#13;&#10;      &lt;Box style={{ width: '276px', padding: '14px', border: '1px solid #D6DCE5', flexDirection: 'column', gap: 8 }}&gt;&#13;&#10;        &lt;Box style={{ flexDirection: 'row', alignItems: 'center', gap: 8 }}&gt;&#13;&#10;          &lt;Box style={{ width: '10px', height: '10px', background: '#8B97A8' }} /&gt;&#13;&#10;          &lt;Text style={{ fontSize: 18, fontWeight: 'bold', color: '#1E4FA8' }}&gt;出题官&lt;/Text&gt;&#13;&#10;        &lt;/Box&gt;&#13;&#10;        &lt;Text style={{ fontSize: 15, color: '#4A5568', lineHeight: 1.5 }}&gt;按岗位 JD 定制题目与考察点&lt;/Text&gt;&#13;&#10;      &lt;/Box&gt;&#13;&#10;    &lt;/Box&gt;&#13;&#10;&#13;&#10;    &lt;Box style={{ padding: '18px', border: '1px solid #D6DCE5', flexDirection: 'column', gap: 12, background: '#F7F9FC' }}&gt;&#13;&#10;      &lt;Text style={{ fontSize: 19, fontWeight: 'bold', color: '#1E4FA8' }}&gt;决策卡示例（真实运行输出）&lt;/Text&gt;&#13;&#10;      &lt;Box style={{ flexDirection: 'column', gap: 8 }}&gt;&#13;&#10;        &lt;Box style={{ flexDirection: 'row', gap: 12 }}&gt;&#13;&#10;          &lt;Text style={{ fontSize: 16, fontWeight: 'bold', color: '#1E4FA8', width: '96px' }}&gt;第 3 次决策&lt;/Text&gt;&#13;&#10;          &lt;Text style={{ fontSize: 16, color: '#1A2230', lineHeight: 1.5 }}&gt;思考：候选人把线程池答成了 HashMap，先礼貌拉回来，重新问 HashMap 的核心结构&lt;/Text&gt;&#13;&#10;        &lt;/Box&gt;&#13;&#10;        &lt;Box style={{ flexDirection: 'row', gap: 12 }}&gt;&#13;&#10;          &lt;Text style={{ fontSize: 16, fontWeight: 'bold', color: '#1E4FA8', width: '96px' }}&gt;调用工具&lt;/Text&gt;&#13;&#10;          &lt;Text style={{ fontSize: 16, color: '#1A2230', lineHeight: 1.5 }}&gt;analyze_answer → 命中 0 个考察点、深度 2、判定为「答偏」&lt;/Text&gt;&#13;&#10;        &lt;/Box&gt;&#13;&#10;        &lt;Box style={{ flexDirection: 'row', gap: 12 }}&gt;&#13;&#10;          &lt;Text style={{ fontSize: 16, fontWeight: 'bold', color: '#1E4FA8', width: '96px' }}&gt;因此说出&lt;/Text&gt;&#13;&#10;          &lt;Text style={{ fontSize: 16, color: '#1A2230', lineHeight: 1.5 }}&gt;「我注意到你讲到的是线程池 —— 我们回到 HashMap，它底层到底是什么结构？」&lt;/Text&gt;&#13;&#10;        &lt;/Box&gt;&#13;&#10;      &lt;/Box&gt;&#13;&#10;    &lt;/Box&gt;&#13;&#10;  &lt;/Box&gt;&#13;&#10;&#13;&#10;  &lt;Box style={{ position: 'absolute', top: 670, left: 60, width: '1160px', flexDirection: 'row', justifyContent: 'space-between' }}&gt;&#13;&#10;    &lt;Text style={{ fontSize: 14, color: '#8B97A8' }}&gt;面镜 MockMirror · AI 模拟面试与能力提升软件&lt;/Text&gt;&#13;&#10;    &lt;Text style={{ fontSize: 14, color: '#8B97A8' }}&gt;08 / 2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0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5181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创新二：把决策过程显式呈现给使用者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0125075" y="781050"/>
            <a:ext cx="1266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03 · Transparency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609600" y="1409700"/>
            <a:ext cx="11049000" cy="5429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571500" y="1409700"/>
            <a:ext cx="11087100" cy="542925"/>
          </a:xfrm>
          <a:custGeom>
            <a:pathLst>
              <a:path w="1164" h="57">
                <a:moveTo>
                  <a:pt x="0" y="0"/>
                </a:moveTo>
                <a:lnTo>
                  <a:pt x="4" y="0"/>
                </a:lnTo>
                <a:lnTo>
                  <a:pt x="4" y="57"/>
                </a:lnTo>
                <a:lnTo>
                  <a:pt x="0" y="57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781050" y="1524000"/>
            <a:ext cx="106680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界面「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工作台」实时渲染角色卡与决策卡：第几次决策、它在想什么、调了什么工具、工具返回了什么、因此说了什么。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571500" y="2124075"/>
            <a:ext cx="2628900" cy="80962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704850" y="23145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76300" y="22574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面试官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704850" y="2543175"/>
            <a:ext cx="2362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主持对话：追问、深挖、换题、收尾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3371850" y="2124075"/>
            <a:ext cx="2628900" cy="80962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81" name=""/>
          <p:cNvSpPr/>
          <p:nvPr/>
        </p:nvSpPr>
        <p:spPr>
          <a:xfrm rot="0" flipH="0" flipV="0">
            <a:off x="3505200" y="2314575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3676650" y="22574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评估官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3505200" y="2543175"/>
            <a:ext cx="2362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逐题复核并修正评分（限幅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±15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分）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172200" y="2124075"/>
            <a:ext cx="2628900" cy="80962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85" name=""/>
          <p:cNvSpPr/>
          <p:nvPr/>
        </p:nvSpPr>
        <p:spPr>
          <a:xfrm rot="0" flipH="0" flipV="0">
            <a:off x="6305550" y="2314575"/>
            <a:ext cx="95250" cy="95250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477000" y="22574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陪练官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305550" y="2543175"/>
            <a:ext cx="2362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生成一周计划与针对性练习题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8972550" y="2124075"/>
            <a:ext cx="2628900" cy="80962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89" name=""/>
          <p:cNvSpPr/>
          <p:nvPr/>
        </p:nvSpPr>
        <p:spPr>
          <a:xfrm rot="0" flipH="0" flipV="0">
            <a:off x="9105900" y="2314575"/>
            <a:ext cx="95250" cy="95250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9277350" y="22574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出题官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9105900" y="2543175"/>
            <a:ext cx="2362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按岗位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JD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定制题目与考察点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571500" y="3105150"/>
            <a:ext cx="11049000" cy="16573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42950" y="3276600"/>
            <a:ext cx="10706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决策卡示例（真实运行输出）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742950" y="36099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第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次决策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771650" y="3609975"/>
            <a:ext cx="5953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思考：候选人把线程池答成了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HashMap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，先礼貌拉回来，重新问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HashMap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的核心结构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42950" y="3962400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调用工具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1771650" y="3962400"/>
            <a:ext cx="42767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analyze_answer →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命中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个考察点、深度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、判定为「答偏」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742950" y="431482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因此说出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771650" y="4314825"/>
            <a:ext cx="5734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「我注意到你讲到的是线程池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我们回到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HashMap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，它底层到底是什么结构？」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08 / 20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02" name="" descr="&lt;Slide style={{ width: '1280px', height: '720px', background: '#FFFFFF', padding: 0, fontFamily: 'Microsoft YaHei' }}&gt;&#13;&#10;  &lt;Box style={{ position: 'absolute', top: 60, left: 60, width: '1160px', height: '64px', background: '#1E4FA8', flexDirection: 'row', alignItems: 'center', justifyContent: 'space-between', padding: '0 24px' }}&gt;&#13;&#10;    &lt;Text style={{ fontSize: 32, fontWeight: 'bold', color: '#FFFFFF' }}&gt;创新三：四个专职 Agent 的分工与协作&lt;/Text&gt;&#13;&#10;    &lt;Text style={{ fontSize: 16, color: '#C7D8F5' }}&gt;03 · Multi-Agent&lt;/Text&gt;&#13;&#10;  &lt;/Box&gt;&#13;&#10;&#13;&#10;  &lt;Box style={{ position: 'absolute', top: 148, left: 60, width: '1160px', flexDirection: 'column', gap: 18 }}&gt;&#13;&#10;    &lt;Box style={{ flexDirection: 'row', gap: 16, alignItems: 'stretch' }}&gt;&#13;&#10;      &lt;Box style={{ width: '242px', padding: '14px', background: '#1E4FA8', flexDirection: 'column', gap: 6, justifyContent: 'center' }}&gt;&#13;&#10;        &lt;Text style={{ fontSize: 19, fontWeight: 'bold', color: '#FFFFFF' }}&gt;面试进行中&lt;/Text&gt;&#13;&#10;        &lt;Text style={{ fontSize: 15, color: '#C7D8F5', lineHeight: 1.5 }}&gt;面试官 Agent 主持对话，并把观察写入共享记忆&lt;/Text&gt;&#13;&#10;      &lt;/Box&gt;&#13;&#10;      &lt;Box style={{ width: '40px', alignItems: 'center', justifyContent: 'center' }}&gt;&#13;&#10;        &lt;Text style={{ fontSize: 24, color: '#8B97A8' }}&gt;→&lt;/Text&gt;&#13;&#10;      &lt;/Box&gt;&#13;&#10;      &lt;Box style={{ width: '242px', padding: '14px', border: '1px solid #D6DCE5', flexDirection: 'column', gap: 6, justifyContent: 'center' }}&gt;&#13;&#10;        &lt;Text style={{ fontSize: 19, fontWeight: 'bold', color: '#1E4FA8' }}&gt;面试结束&lt;/Text&gt;&#13;&#10;        &lt;Text style={{ fontSize: 15, color: '#4A5568', lineHeight: 1.5 }}&gt;规则引擎先产出初版评分（多维度）&lt;/Text&gt;&#13;&#10;      &lt;/Box&gt;&#13;&#10;      &lt;Box style={{ width: '40px', alignItems: 'center', justifyContent: 'center' }}&gt;&#13;&#10;        &lt;Text style={{ fontSize: 24, color: '#8B97A8' }}&gt;→&lt;/Text&gt;&#13;&#10;      &lt;/Box&gt;&#13;&#10;      &lt;Box style={{ width: '242px', padding: '14px', border: '1px solid #D6DCE5', flexDirection: 'column', gap: 6, justifyContent: 'center' }}&gt;&#13;&#10;        &lt;Text style={{ fontSize: 19, fontWeight: 'bold', color: '#1E4FA8' }}&gt;双 Agent 并行&lt;/Text&gt;&#13;&#10;        &lt;Text style={{ fontSize: 15, color: '#4A5568', lineHeight: 1.5 }}&gt;评估官复核 + 陪练官出计划，同时执行&lt;/Text&gt;&#13;&#10;      &lt;/Box&gt;&#13;&#10;      &lt;Box style={{ width: '40px', alignItems: 'center', justifyContent: 'center' }}&gt;&#13;&#10;        &lt;Text style={{ fontSize: 24, color: '#8B97A8' }}&gt;→&lt;/Text&gt;&#13;&#10;      &lt;/Box&gt;&#13;&#10;      &lt;Box style={{ width: '212px', padding: '14px', background: '#E8EFF8', flexDirection: 'column', gap: 6, justifyContent: 'center' }}&gt;&#13;&#10;        &lt;Text style={{ fontSize: 19, fontWeight: 'bold', color: '#1E4FA8' }}&gt;合并出报告&lt;/Text&gt;&#13;&#10;        &lt;Text style={{ fontSize: 15, color: '#4A5568', lineHeight: 1.5 }}&gt;加减分限幅 ±15 后重算总分&lt;/Text&gt;&#13;&#10;      &lt;/Box&gt;&#13;&#10;    &lt;/Box&gt;&#13;&#10;&#13;&#10;    &lt;Box style={{ flexDirection: 'row', gap: 20 }}&gt;&#13;&#10;      &lt;Box style={{ width: '566px', padding: '16px 18px', border: '1px solid #D6DCE5', flexDirection: 'column', gap: 10 }}&gt;&#13;&#10;        &lt;Text style={{ fontSize: 21, fontWeight: 'bold', color: '#1E4FA8' }}&gt;评估官产出&lt;/Text&gt;&#13;&#10;        &lt;Text style={{ fontSize: 16, color: '#1A2230', lineHeight: 1.5 }}&gt;· agentVerdict：整体评价与是否建议通过&lt;/Text&gt;&#13;&#10;        &lt;Text style={{ fontSize: 16, color: '#1A2230', lineHeight: 1.5 }}&gt;· agentPerQuestion：逐题「该怎么答」的正确答案要点&lt;/Text&gt;&#13;&#10;        &lt;Text style={{ fontSize: 16, color: '#1A2230', lineHeight: 1.5 }}&gt;· agentHighlights / agentGaps：亮点与短板抽取&lt;/Text&gt;&#13;&#10;        &lt;Text style={{ fontSize: 16, color: '#1A2230', lineHeight: 1.5 }}&gt;· 先调用统计工具读数据，再下结论——不凭空打分&lt;/Text&gt;&#13;&#10;      &lt;/Box&gt;&#13;&#10;      &lt;Box style={{ width: '566px', padding: '16px 18px', border: '1px solid #D6DCE5', flexDirection: 'column', gap: 10 }}&gt;&#13;&#10;        &lt;Text style={{ fontSize: 21, fontWeight: 'bold', color: '#1E4FA8' }}&gt;陪练官产出&lt;/Text&gt;&#13;&#10;        &lt;Text style={{ fontSize: 16, color: '#1A2230', lineHeight: 1.5 }}&gt;· coachPlan：3~7 天的具体练习安排&lt;/Text&gt;&#13;&#10;        &lt;Text style={{ fontSize: 16, color: '#1A2230', lineHeight: 1.5 }}&gt;· 针对性练习题，且回避本场已问过的题目&lt;/Text&gt;&#13;&#10;        &lt;Text style={{ fontSize: 16, color: '#1A2230', lineHeight: 1.5 }}&gt;· 答题方法建议：结论—原理—场景的三段式表达&lt;/Text&gt;&#13;&#10;        &lt;Text style={{ fontSize: 16, color: '#1A2230', lineHeight: 1.5 }}&gt;· 与评估官并行执行，缩短出报告等待时间&lt;/Text&gt;&#13;&#10;      &lt;/Box&gt;&#13;&#10;    &lt;/Box&gt;&#13;&#10;&#13;&#10;    &lt;Box style={{ padding: '14px 18px', background: '#E8EFF8' }}&gt;&#13;&#10;      &lt;Text style={{ fontSize: 17, color: '#1A2230', lineHeight: 1.5 }}&gt;&#13;&#10;        &lt;span style={{ fontWeight: 'bold', color: '#D9534F' }}&gt;质量保证：&lt;/span&gt;&#13;&#10;        Agent 产出需通过结果校验（如禁止「待核对数据后给出」这类占位结论），校验不通过自动重试一次；仍不合格则保留规则引擎的初版报告，绝不把空话交给用户。&#13;&#10;      &lt;/Text&gt;&#13;&#10;    &lt;/Box&gt;&#13;&#10;  &lt;/Box&gt;&#13;&#10;&#13;&#10;  &lt;Box style={{ position: 'absolute', top: 670, left: 60, width: '1160px', flexDirection: 'row', justifyContent: 'space-between' }}&gt;&#13;&#10;    &lt;Text style={{ fontSize: 14, color: '#8B97A8' }}&gt;面镜 MockMirror · AI 模拟面试与能力提升软件&lt;/Text&gt;&#13;&#10;    &lt;Text style={{ fontSize: 14, color: '#8B97A8' }}&gt;09 / 2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4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53816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创新三：四个专职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的分工与协作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10191750" y="781050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03 · Multi-Agent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571500" y="1409700"/>
            <a:ext cx="2305050" cy="10572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04850" y="1543050"/>
            <a:ext cx="2038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面试进行中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704850" y="1819275"/>
            <a:ext cx="2038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C7D8F5"/>
                </a:solidFill>
                <a:latin typeface="Microsoft YaHei"/>
                <a:ea typeface="Microsoft YaHei"/>
              </a:rPr>
              <a:t>面试官</a:t>
            </a:r>
            <a:r>
              <a:rPr lang="en-US" sz="1125">
                <a:solidFill>
                  <a:srgbClr val="C7D8F5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>
                <a:solidFill>
                  <a:srgbClr val="C7D8F5"/>
                </a:solidFill>
                <a:latin typeface="Microsoft YaHei"/>
                <a:ea typeface="Microsoft YaHei"/>
              </a:rPr>
              <a:t>主持对话，并把观察写入共享记忆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3105150" y="18002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3562350" y="1409700"/>
            <a:ext cx="2305050" cy="105727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3695700" y="1543050"/>
            <a:ext cx="2038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面试结束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3695700" y="1819275"/>
            <a:ext cx="2038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规则引擎先产出初版评分（多维度）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096000" y="18002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6553200" y="1409700"/>
            <a:ext cx="2305050" cy="105727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686550" y="1543050"/>
            <a:ext cx="2038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双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并行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686550" y="1819275"/>
            <a:ext cx="2038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评估官复核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陪练官出计划，同时执行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9086850" y="18002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9544050" y="1409700"/>
            <a:ext cx="2019300" cy="10572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9677400" y="1543050"/>
            <a:ext cx="1752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合并出报告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9677400" y="1819275"/>
            <a:ext cx="1752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加减分限幅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±15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后重算总分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571500" y="2638425"/>
            <a:ext cx="5391150" cy="20383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742950" y="2790825"/>
            <a:ext cx="504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评估官产出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742950" y="3133725"/>
            <a:ext cx="5048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· agentVerdict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：整体评价与是否建议通过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42950" y="3505200"/>
            <a:ext cx="5048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· agentPerQuestion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：逐题「该怎么答」的正确答案要点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742950" y="3876675"/>
            <a:ext cx="5048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· agentHighlights / agentGaps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：亮点与短板抽取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742950" y="4248150"/>
            <a:ext cx="5048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先调用统计工具读数据，再下结论——不凭空打分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6153150" y="2638425"/>
            <a:ext cx="5391150" cy="20383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324600" y="2790825"/>
            <a:ext cx="504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陪练官产出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324600" y="3133725"/>
            <a:ext cx="5048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· coachPlan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3~7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天的具体练习安排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6324600" y="3505200"/>
            <a:ext cx="5048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针对性练习题，且回避本场已问过的题目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6324600" y="3876675"/>
            <a:ext cx="5048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答题方法建议：结论—原理—场景的三段式表达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324600" y="4248150"/>
            <a:ext cx="5048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与评估官并行执行，缩短出报告等待时间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571500" y="4848225"/>
            <a:ext cx="11049000" cy="8572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42950" y="4981575"/>
            <a:ext cx="10706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质量保证：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产出需通过结果校验（如禁止「待核对数据后给出」这类占位结论），校验不通过自动重试一次；仍不合格则保留规则引擎的初版报告，绝不把空话交给用户。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09 / 20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8" name="" descr="&lt;Slide style={{ width: '1280px', height: '720px', background: '#FFFFFF', padding: 0, fontFamily: 'Microsoft YaHei' }}&gt;&#13;&#10;  &lt;Box style={{ position: 'absolute', top: 60, left: 60, width: '1160px', height: '64px', background: '#1E4FA8', flexDirection: 'row', alignItems: 'center', justifyContent: 'space-between', padding: '0 24px' }}&gt;&#13;&#10;    &lt;Text style={{ fontSize: 32, fontWeight: 'bold', color: '#FFFFFF' }}&gt;创新四：以 MCP 协议对外开放面试能力&lt;/Text&gt;&#13;&#10;    &lt;Text style={{ fontSize: 16, color: '#C7D8F5' }}&gt;03 · MCP&lt;/Text&gt;&#13;&#10;  &lt;/Box&gt;&#13;&#10;&#13;&#10;  &lt;Box style={{ position: 'absolute', top: 148, left: 60, width: '1160px', flexDirection: 'row', gap: 24 }}&gt;&#13;&#10;    &lt;Box style={{ width: '550px', flexDirection: 'column', gap: 12 }}&gt;&#13;&#10;      &lt;Text style={{ fontSize: 21, fontWeight: 'bold', color: '#1E4FA8' }}&gt;对外暴露 9 个工具&lt;/Text&gt;&#13;&#10;      &lt;Box style={{ flexDirection: 'row', gap: 10 }}&gt;&#13;&#10;        &lt;Box style={{ width: '268px', padding: '10px 12px', background: '#F7F9FC', border: '1px solid #D6DCE5' }}&gt;&#13;&#10;          &lt;Text style={{ fontSize: 15, color: '#1A2230' }}&gt;list_positions 岗位列表&lt;/Text&gt;&#13;&#10;        &lt;/Box&gt;&#13;&#10;        &lt;Box style={{ width: '268px', padding: '10px 12px', background: '#F7F9FC', border: '1px solid #D6DCE5' }}&gt;&#13;&#10;          &lt;Text style={{ fontSize: 15, color: '#1A2230' }}&gt;start_interview 开始面试&lt;/Text&gt;&#13;&#10;        &lt;/Box&gt;&#13;&#10;      &lt;/Box&gt;&#13;&#10;      &lt;Box style={{ flexDirection: 'row', gap: 10 }}&gt;&#13;&#10;        &lt;Box style={{ width: '268px', padding: '10px 12px', background: '#F7F9FC', border: '1px solid #D6DCE5' }}&gt;&#13;&#10;          &lt;Text style={{ fontSize: 15, color: '#1A2230' }}&gt;submit_answer 提交作答&lt;/Text&gt;&#13;&#10;        &lt;/Box&gt;&#13;&#10;        &lt;Box style={{ width: '268px', padding: '10px 12px', background: '#F7F9FC', border: '1px solid #D6DCE5' }}&gt;&#13;&#10;          &lt;Text style={{ fontSize: 15, color: '#1A2230' }}&gt;finish_interview 结束出报告&lt;/Text&gt;&#13;&#10;        &lt;/Box&gt;&#13;&#10;      &lt;/Box&gt;&#13;&#10;      &lt;Box style={{ flexDirection: 'row', gap: 10 }}&gt;&#13;&#10;        &lt;Box style={{ width: '268px', padding: '10px 12px', background: '#F7F9FC', border: '1px solid #D6DCE5' }}&gt;&#13;&#10;          &lt;Text style={{ fontSize: 15, color: '#1A2230' }}&gt;analyze_answer 单条批改&lt;/Text&gt;&#13;&#10;        &lt;/Box&gt;&#13;&#10;        &lt;Box style={{ width: '268px', padding: '10px 12px', background: '#F7F9FC', border: '1px solid #D6DCE5' }}&gt;&#13;&#10;          &lt;Text style={{ fontSize: 15, color: '#1A2230' }}&gt;get_report 回读报告&lt;/Text&gt;&#13;&#10;        &lt;/Box&gt;&#13;&#10;      &lt;/Box&gt;&#13;&#10;      &lt;Box style={{ flexDirection: 'row', gap: 10 }}&gt;&#13;&#10;        &lt;Box style={{ width: '268px', padding: '10px 12px', background: '#F7F9FC', border: '1px solid #D6DCE5' }}&gt;&#13;&#10;          &lt;Text style={{ fontSize: 15, color: '#1A2230' }}&gt;get_history 历史记录&lt;/Text&gt;&#13;&#10;        &lt;/Box&gt;&#13;&#10;        &lt;Box style={{ width: '268px', padding: '10px 12px', background: '#F7F9FC', border: '1px solid #D6DCE5' }}&gt;&#13;&#10;          &lt;Text style={{ fontSize: 15, color: '#1A2230' }}&gt;search_bank 题库检索&lt;/Text&gt;&#13;&#10;        &lt;/Box&gt;&#13;&#10;      &lt;/Box&gt;&#13;&#10;      &lt;Box style={{ flexDirection: 'row', gap: 10 }}&gt;&#13;&#10;        &lt;Box style={{ width: '268px', padding: '10px 12px', background: '#F7F9FC', border: '1px solid #D6DCE5' }}&gt;&#13;&#10;          &lt;Text style={{ fontSize: 15, color: '#1A2230' }}&gt;knowledge_lookup 知识查询&lt;/Text&gt;&#13;&#10;        &lt;/Box&gt;&#13;&#10;        &lt;Box style={{ width: '268px', padding: '10px 12px', background: '#E8EFF8', border: '1px solid #D6DCE5' }}&gt;&#13;&#10;          &lt;Text style={{ fontSize: 15, color: '#1A2230' }}&gt;另有 3 类资源 + 2 个提示词模板&lt;/Text&gt;&#13;&#10;        &lt;/Box&gt;&#13;&#10;      &lt;/Box&gt;&#13;&#10;    &lt;/Box&gt;&#13;&#10;&#13;&#10;    &lt;Box style={{ width: '1px', background: '#D6DCE5' }} /&gt;&#13;&#10;&#13;&#10;    &lt;Box style={{ width: '550px', flexDirection: 'column', gap: 14 }}&gt;&#13;&#10;      &lt;Text style={{ fontSize: 21, fontWeight: 'bold', color: '#1E4FA8' }}&gt;外部 AI 工具的调用链&lt;/Text&gt;&#13;&#10;      &lt;Box style={{ padding: '14px 16px', background: '#F7F9FC', border: '1px solid #D6DCE5', flexDirection: 'column', gap: 8 }}&gt;&#13;&#10;        &lt;Text style={{ fontSize: 16, color: '#1A2230', lineHeight: 1.55 }}&gt;&#13;&#10;          使用者对任意支持 MCP 的 AI 工具说一句「用 MockMirror 帮我面一场 Java 后端」，工具会自行完成：&#13;&#10;        &lt;/Text&gt;&#13;&#10;        &lt;Text style={{ fontSize: 16, color: '#1E4FA8', lineHeight: 1.55 }}&gt;&#13;&#10;          list_positions → start_interview → submit_answer × N → finish_interview&#13;&#10;        &lt;/Text&gt;&#13;&#10;        &lt;Text style={{ fontSize: 16, color: '#4A5568', lineHeight: 1.55 }}&gt;最后把评估报告直接交回给使用者。&lt;/Text&gt;&#13;&#10;      &lt;/Box&gt;&#13;&#10;&#13;&#10;      &lt;Box style={{ padding: '14px 16px', background: '#1A2230', flexDirection: 'column', gap: 6 }}&gt;&#13;&#10;        &lt;Text style={{ fontSize: 14, color: '#8B97A8' }}&gt;配置示例&lt;/Text&gt;&#13;&#10;        &lt;Text style={{ fontSize: 15, color: '#FFFFFF', lineHeight: 1.6 }}&gt;&#13;&#10;          &quot;mcpServers&quot;: {&quot;{&quot;}&lt;br /&gt;&#13;&#10;          &amp;nbsp;&amp;nbsp;&quot;mockmirror&quot;: {&quot;{&quot;} &quot;command&quot;: &quot;node&quot;,&lt;br /&gt;&#13;&#10;          &amp;nbsp;&amp;nbsp;&amp;nbsp;&amp;nbsp;&quot;args&quot;: [&quot;mcp/mockmirror-mcp.js&quot;] {&quot;}&quot;}&lt;br /&gt;&#13;&#10;          {&quot;}&quot;}&#13;&#10;        &lt;/Text&gt;&#13;&#10;      &lt;/Box&gt;&#13;&#10;&#13;&#10;      &lt;Box style={{ padding: '12px 16px', background: '#E8EFF8' }}&gt;&#13;&#10;        &lt;Text style={{ fontSize: 16, color: '#1A2230', lineHeight: 1.5 }}&gt;&#13;&#10;          &lt;span style={{ fontWeight: 'bold' }}&gt;单一写入方原则：&lt;/span&gt;写状态的操作统一转发本机服务，只读能力直读文件——即使主服务未启动也能查询题库。&#13;&#10;        &lt;/Text&gt;&#13;&#10;      &lt;/Box&gt;&#13;&#10;    &lt;/Box&gt;&#13;&#10;  &lt;/Box&gt;&#13;&#10;&#13;&#10;  &lt;Box style={{ position: 'absolute', top: 670, left: 60, width: '1160px', flexDirection: 'row', justifyContent: 'space-between' }}&gt;&#13;&#10;    &lt;Text style={{ fontSize: 14, color: '#8B97A8' }}&gt;面镜 MockMirror · AI 模拟面试与能力提升软件&lt;/Text&gt;&#13;&#10;    &lt;Text style={{ fontSize: 14, color: '#8B97A8' }}&gt;10 / 2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54768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创新四：以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协议对外开放面试能力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734675" y="781050"/>
            <a:ext cx="657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03 · MCP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1409700"/>
            <a:ext cx="523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对外暴露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个工具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571500" y="1771650"/>
            <a:ext cx="2552700" cy="361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186690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list_positions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岗位列表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3219450" y="1771650"/>
            <a:ext cx="2552700" cy="361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333750" y="186690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start_interview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开始面试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571500" y="2247900"/>
            <a:ext cx="2552700" cy="361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85800" y="234315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submit_answer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提交作答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3219450" y="2247900"/>
            <a:ext cx="2552700" cy="361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3333750" y="234315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finish_interview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结束出报告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571500" y="2724150"/>
            <a:ext cx="2552700" cy="361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85800" y="281940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analyze_answer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单条批改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219450" y="2724150"/>
            <a:ext cx="2552700" cy="361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333750" y="281940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get_report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回读报告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571500" y="3200400"/>
            <a:ext cx="2552700" cy="361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5800" y="329565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get_history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历史记录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3219450" y="3200400"/>
            <a:ext cx="2552700" cy="361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333750" y="329565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search_bank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题库检索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571500" y="3676650"/>
            <a:ext cx="2552700" cy="361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5800" y="377190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knowledge_lookup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知识查询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3219450" y="3676650"/>
            <a:ext cx="2552700" cy="361950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333750" y="377190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另有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类资源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+ 2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个提示词模板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38850" y="1409700"/>
            <a:ext cx="9525" cy="486727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276975" y="1409700"/>
            <a:ext cx="523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外部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工具的调用链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276975" y="1790700"/>
            <a:ext cx="5238750" cy="18478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429375" y="1924050"/>
            <a:ext cx="49339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使用者对任意支持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工具说一句「用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MockMirror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帮我面一场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Java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后端」，工具会自行完成：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429375" y="2571750"/>
            <a:ext cx="49339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list_positions → start_interview → submit_answer × N → finish_interview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429375" y="3219450"/>
            <a:ext cx="49339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最后把评估报告直接交回给使用者。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276975" y="3771900"/>
            <a:ext cx="5238750" cy="1590675"/>
          </a:xfrm>
          <a:prstGeom prst="rect">
            <a:avLst/>
          </a:prstGeom>
          <a:solidFill>
            <a:srgbClr val="1A2230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429375" y="3905250"/>
            <a:ext cx="493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配置示例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429375" y="4124325"/>
            <a:ext cx="4933950" cy="11049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"mcpServers": 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{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  "mockmirror": 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{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"command": "node",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    "args": ["mcp/mockmirror-mcp.js"] 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}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}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276975" y="5495925"/>
            <a:ext cx="5238750" cy="7810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429375" y="5610225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单一写入方原则：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写状态的操作统一转发本机服务，只读能力直读文件——即使主服务未启动也能查询题库。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10 / 20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7" name="" descr="&lt;Slide style={{ width: '1280px', height: '720px', background: '#FFFFFF', padding: 0, fontFamily: 'Microsoft YaHei' }}&gt;&#13;&#10;  &lt;Box style={{ position: 'absolute', top: 60, left: 60, width: '1160px', height: '64px', background: '#1E4FA8', flexDirection: 'row', alignItems: 'center', justifyContent: 'space-between', padding: '0 24px' }}&gt;&#13;&#10;    &lt;Text style={{ fontSize: 32, fontWeight: 'bold', color: '#FFFFFF' }}&gt;关键技术一：本地离线语音识别链路&lt;/Text&gt;&#13;&#10;    &lt;Text style={{ fontSize: 16, color: '#C7D8F5' }}&gt;04 · ASR&lt;/Text&gt;&#13;&#10;  &lt;/Box&gt;&#13;&#10;&#13;&#10;  &lt;Box style={{ position: 'absolute', top: 148, left: 60, width: '1160px', flexDirection: 'column', gap: 18 }}&gt;&#13;&#10;    &lt;Box style={{ flexDirection: 'row', gap: 16, alignItems: 'stretch' }}&gt;&#13;&#10;      &lt;Box style={{ width: '176px', padding: '12px', border: '1px solid #D6DCE5', flexDirection: 'column', gap: 6, justifyContent: 'center' }}&gt;&#13;&#10;        &lt;Text style={{ fontSize: 17, fontWeight: 'bold', color: '#1E4FA8' }}&gt;浏览器采集&lt;/Text&gt;&#13;&#10;        &lt;Text style={{ fontSize: 14, color: '#4A5568', lineHeight: 1.5 }}&gt;AudioContext 16 kHz，2048 帧缓冲&lt;/Text&gt;&#13;&#10;      &lt;/Box&gt;&#13;&#10;      &lt;Box style={{ width: '36px', alignItems: 'center', justifyContent: 'center' }}&gt;&lt;Text style={{ fontSize: 22, color: '#8B97A8' }}&gt;→&lt;/Text&gt;&lt;/Box&gt;&#13;&#10;      &lt;Box style={{ width: '176px', padding: '12px', border: '1px solid #D6DCE5', flexDirection: 'column', gap: 6, justifyContent: 'center' }}&gt;&#13;&#10;        &lt;Text style={{ fontSize: 17, fontWeight: 'bold', color: '#1E4FA8' }}&gt;分片上传&lt;/Text&gt;&#13;&#10;        &lt;Text style={{ fontSize: 14, color: '#4A5568', lineHeight: 1.5 }}&gt;每 160 ms 一片 PCM 转 base64&lt;/Text&gt;&#13;&#10;      &lt;/Box&gt;&#13;&#10;      &lt;Box style={{ width: '36px', alignItems: 'center', justifyContent: 'center' }}&gt;&lt;Text style={{ fontSize: 22, color: '#8B97A8' }}&gt;→&lt;/Text&gt;&lt;/Box&gt;&#13;&#10;      &lt;Box style={{ width: '176px', padding: '12px', border: '1px solid #D6DCE5', flexDirection: 'column', gap: 6, justifyContent: 'center' }}&gt;&#13;&#10;        &lt;Text style={{ fontSize: 17, fontWeight: 'bold', color: '#1E4FA8' }}&gt;本机识别&lt;/Text&gt;&#13;&#10;        &lt;Text style={{ fontSize: 14, color: '#4A5568', lineHeight: 1.5 }}&gt;sherpa-onnx 流式 zipformer 双语模型&lt;/Text&gt;&#13;&#10;      &lt;/Box&gt;&#13;&#10;      &lt;Box style={{ width: '36px', alignItems: 'center', justifyContent: 'center' }}&gt;&lt;Text style={{ fontSize: 22, color: '#8B97A8' }}&gt;→&lt;/Text&gt;&lt;/Box&gt;&#13;&#10;      &lt;Box style={{ width: '176px', padding: '12px', border: '1px solid #D6DCE5', flexDirection: 'column', gap: 6, justifyContent: 'center' }}&gt;&#13;&#10;        &lt;Text style={{ fontSize: 17, fontWeight: 'bold', color: '#1E4FA8' }}&gt;端点检测&lt;/Text&gt;&#13;&#10;        &lt;Text style={{ fontSize: 14, color: '#4A5568', lineHeight: 1.5 }}&gt;静音 0.8 s 判定「这句话说完了」&lt;/Text&gt;&#13;&#10;      &lt;/Box&gt;&#13;&#10;      &lt;Box style={{ width: '36px', alignItems: 'center', justifyContent: 'center' }}&gt;&lt;Text style={{ fontSize: 22, color: '#8B97A8' }}&gt;→&lt;/Text&gt;&lt;/Box&gt;&#13;&#10;      &lt;Box style={{ width: '176px', padding: '12px', background: '#E8EFF8', flexDirection: 'column', gap: 6, justifyContent: 'center' }}&gt;&#13;&#10;        &lt;Text style={{ fontSize: 17, fontWeight: 'bold', color: '#1E4FA8' }}&gt;术语归一后提交&lt;/Text&gt;&#13;&#10;        &lt;Text style={{ fontSize: 14, color: '#4A5568', lineHeight: 1.5 }}&gt;瑞迪斯 → Redis，进入评估环节&lt;/Text&gt;&#13;&#10;      &lt;/Box&gt;&#13;&#10;    &lt;/Box&gt;&#13;&#10;&#13;&#10;    &lt;Box style={{ flexDirection: 'row', gap: 20 }}&gt;&#13;&#10;      &lt;Box style={{ width: '560px', padding: '16px 18px', background: '#E8EFF8', flexDirection: 'column', gap: 8 }}&gt;&#13;&#10;        &lt;Text style={{ fontSize: 20, fontWeight: 'bold', color: '#1A2230' }}&gt;为什么必须做本地识别&lt;/Text&gt;&#13;&#10;        &lt;Text style={{ fontSize: 16, color: '#1A2230', lineHeight: 1.55 }}&gt;&#13;&#10;          项目初期浏览器语音识别频繁报 &lt;span style={{ fontWeight: 'bold', color: '#D9534F' }}&gt;network&lt;/span&gt; 错误：根因是 Chrome 内置识别依赖境外服务，国内请求被阻断。&#13;&#10;        &lt;/Text&gt;&#13;&#10;        &lt;Text style={{ fontSize: 16, color: '#1A2230', lineHeight: 1.55 }}&gt;&#13;&#10;          这是外部依赖问题，重试没有意义。改为本地引擎后，断网也能完成整场面试。&#13;&#10;        &lt;/Text&gt;&#13;&#10;      &lt;/Box&gt;&#13;&#10;      &lt;Box style={{ width: '560px', padding: '16px 18px', border: '1px solid #D6DCE5', flexDirection: 'column', gap: 8 }}&gt;&#13;&#10;        &lt;Text style={{ fontSize: 20, fontWeight: 'bold', color: '#1A2230' }}&gt;两级回退与隔离设计&lt;/Text&gt;&#13;&#10;        &lt;Text style={{ fontSize: 16, color: '#1A2230', lineHeight: 1.55 }}&gt;· 本地引擎 → 浏览器识别 → 提示改用键盘，流程始终可走完&lt;/Text&gt;&#13;&#10;        &lt;Text style={{ fontSize: 16, color: '#1A2230', lineHeight: 1.55 }}&gt;· 每个会话独立音频流并设上限回收，并发时互不串音&lt;/Text&gt;&#13;&#10;        &lt;Text style={{ fontSize: 16, color: '#1A2230', lineHeight: 1.55 }}&gt;· 双语模型支持中英混说，能听懂 Redis、JVM 这类英文技术词&lt;/Text&gt;&#13;&#10;      &lt;/Box&gt;&#13;&#10;    &lt;/Box&gt;&#13;&#10;&#13;&#10;    &lt;Box style={{ flexDirection: 'row', gap: 20 }}&gt;&#13;&#10;      &lt;Box style={{ width: '360px', padding: '14px 16px', background: '#F7F9FC', border: '1px solid #D6DCE5', flexDirection: 'column', gap: 4 }}&gt;&#13;&#10;        &lt;Text style={{ fontSize: 38, fontWeight: 'bold', color: '#1E4FA8' }}&gt;0.041&lt;/Text&gt;&#13;&#10;        &lt;Text style={{ fontSize: 15, color: '#4A5568' }}&gt;识别实时率 RTF（目标 ≤ 0.5）&lt;/Text&gt;&#13;&#10;      &lt;/Box&gt;&#13;&#10;      &lt;Box style={{ width: '360px', padding: '14px 16px', background: '#F7F9FC', border: '1px solid #D6DCE5', flexDirection: 'column', gap: 4 }}&gt;&#13;&#10;        &lt;Text style={{ fontSize: 38, fontWeight: 'bold', color: '#1E4FA8' }}&gt;320 ms&lt;/Text&gt;&#13;&#10;        &lt;Text style={{ fontSize: 15, color: '#4A5568' }}&gt;首字延迟（160 ms 分片 + 解码）&lt;/Text&gt;&#13;&#10;      &lt;/Box&gt;&#13;&#10;      &lt;Box style={{ width: '360px', padding: '14px 16px', background: '#F7F9FC', border: '1px solid #D6DCE5', flexDirection: 'column', gap: 4 }}&gt;&#13;&#10;        &lt;Text style={{ fontSize: 38, fontWeight: 'bold', color: '#1E4FA8' }}&gt;260 MB&lt;/Text&gt;&#13;&#10;        &lt;Text style={{ fontSize: 15, color: '#4A5568' }}&gt;int8 量化模型，内存占用可控&lt;/Text&gt;&#13;&#10;      &lt;/Box&gt;&#13;&#10;    &lt;/Box&gt;&#13;&#10;  &lt;/Box&gt;&#13;&#10;&#13;&#10;  &lt;Box style={{ position: 'absolute', top: 670, left: 60, width: '1160px', flexDirection: 'row', justifyContent: 'space-between' }}&gt;&#13;&#10;    &lt;Text style={{ fontSize: 14, color: '#8B97A8' }}&gt;面镜 MockMirror · AI 模拟面试与能力提升软件&lt;/Text&gt;&#13;&#10;    &lt;Text style={{ fontSize: 14, color: '#8B97A8' }}&gt;11 / 2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4876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关键技术一：本地离线语音识别链路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0782300" y="78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04 · ASR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71500" y="1409700"/>
            <a:ext cx="1676400" cy="9715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5800" y="152400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浏览器采集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85800" y="1781175"/>
            <a:ext cx="1447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AudioContext 16 kHz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2048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帧缓冲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2466975" y="17716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2895600" y="1409700"/>
            <a:ext cx="1676400" cy="9715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009900" y="152400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分片上传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009900" y="1781175"/>
            <a:ext cx="1447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每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160 ms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一片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PCM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转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base64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791075" y="17716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5219700" y="1409700"/>
            <a:ext cx="1676400" cy="9715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334000" y="152400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本机识别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334000" y="1781175"/>
            <a:ext cx="1447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sherpa-onnx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流式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zipformer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双语模型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115175" y="17716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7543800" y="1409700"/>
            <a:ext cx="1676400" cy="9715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658100" y="152400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端点检测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658100" y="1781175"/>
            <a:ext cx="1447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静音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0.8 s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判定「这句话说完了」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9439275" y="17716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9867900" y="1409700"/>
            <a:ext cx="1676400" cy="9715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982200" y="152400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术语归一后提交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982200" y="1781175"/>
            <a:ext cx="1447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瑞迪斯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Redis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，进入评估环节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71500" y="2552700"/>
            <a:ext cx="5334000" cy="18288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42950" y="2705100"/>
            <a:ext cx="499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为什么必须做本地识别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42950" y="3009900"/>
            <a:ext cx="4991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项目初期浏览器语音识别频繁报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00" b="1">
                <a:solidFill>
                  <a:srgbClr val="D9534F"/>
                </a:solidFill>
                <a:latin typeface="Microsoft YaHei"/>
                <a:ea typeface="Microsoft YaHei"/>
              </a:rPr>
              <a:t>network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错误：根因是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Chrome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内置识别依赖境外服务，国内请求被阻断。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42950" y="3657600"/>
            <a:ext cx="4991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这是外部依赖问题，重试没有意义。改为本地引擎后，断网也能完成整场面试。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096000" y="2552700"/>
            <a:ext cx="5334000" cy="18288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267450" y="2705100"/>
            <a:ext cx="499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两级回退与隔离设计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267450" y="3009900"/>
            <a:ext cx="49911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本地引擎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浏览器识别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提示改用键盘，流程始终可走完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267450" y="3371850"/>
            <a:ext cx="49911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每个会话独立音频流并设上限回收，并发时互不串音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267450" y="3733800"/>
            <a:ext cx="49911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双语模型支持中英混说，能听懂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Redis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JVM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这类英文技术词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571500" y="4552950"/>
            <a:ext cx="3429000" cy="914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23900" y="4686300"/>
            <a:ext cx="31242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E4FA8"/>
                </a:solidFill>
                <a:latin typeface="Microsoft YaHei"/>
                <a:ea typeface="Microsoft YaHei"/>
              </a:rPr>
              <a:t>0.041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23900" y="5162550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识别实时率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RTF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（目标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≤ 0.5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191000" y="4552950"/>
            <a:ext cx="3429000" cy="914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343400" y="4686300"/>
            <a:ext cx="31242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E4FA8"/>
                </a:solidFill>
                <a:latin typeface="Microsoft YaHei"/>
                <a:ea typeface="Microsoft YaHei"/>
              </a:rPr>
              <a:t>320 ms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343400" y="5162550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首字延迟（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160 ms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分片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解码）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7810500" y="4552950"/>
            <a:ext cx="3429000" cy="914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962900" y="4686300"/>
            <a:ext cx="31242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E4FA8"/>
                </a:solidFill>
                <a:latin typeface="Microsoft YaHei"/>
                <a:ea typeface="Microsoft YaHei"/>
              </a:rPr>
              <a:t>260 MB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962900" y="5162550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int8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量化模型，内存占用可控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11 / 20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1" name="" descr="&lt;Slide style={{ width: '1280px', height: '720px', background: '#FFFFFF', padding: 0, fontFamily: 'Microsoft YaHei' }}&gt;&#10;  &lt;Box style={{ position: 'absolute', top: 60, left: 60, width: '1160px', height: '64px', background: '#1E4FA8', flexDirection: 'row', alignItems: 'center', justifyContent: 'space-between', padding: '0 24px' }}&gt;&#10;    &lt;Text style={{ fontSize: 32, fontWeight: 'bold', color: '#FFFFFF' }}&gt;关键技术二：让「开口说话」真正可用&lt;/Text&gt;&#10;    &lt;Text style={{ fontSize: 16, color: '#C7D8F5' }}&gt;04 · Interaction&lt;/Text&gt;&#10;  &lt;/Box&gt;&#10;&#10;  &lt;Box style={{ position: 'absolute', top: 148, left: 60, width: '1160px', flexDirection: 'column', gap: 18 }}&gt;&#10;    &lt;Box style={{ flexDirection: 'row', gap: 20 }}&gt;&#10;      &lt;Box style={{ width: '566px', padding: '16px 18px', border: '1px solid #D6DCE5', flexDirection: 'column', gap: 10 }}&gt;&#10;        &lt;Text style={{ fontSize: 21, fontWeight: 'bold', color: '#1E4FA8' }}&gt;说完自动提交&lt;/Text&gt;&#10;        &lt;Text style={{ fontSize: 16, color: '#1A2230', lineHeight: 1.55 }}&gt;&#10;          · 端点检测：静音 0.8 秒判定一句话结束，自动提交，全程无需键盘&#10;        &lt;/Text&gt;&#10;        &lt;Text style={{ fontSize: 16, color: '#1A2230', lineHeight: 1.55 }}&gt;&#10;          · 结束词字典：60 余条（「不会」「不知道」「就这些」「讲到这里」…）&#10;        &lt;/Text&gt;&#10;        &lt;Text style={{ fontSize: 16, color: '#1A2230', lineHeight: 1.55 }}&gt;&#10;          · &lt;span style={{ fontWeight: 'bold', color: '#D9534F' }}&gt;仅判定句尾 14 字&lt;/span&gt;：避免句中出现「不知道」被误判为说完&#10;        &lt;/Text&gt;&#10;        &lt;Text style={{ fontSize: 16, color: '#1A2230', lineHeight: 1.55 }}&gt;&#10;          · 提交即清缓冲并对同段文本去重，解决两段对话黏连重复&#10;        &lt;/Text&gt;&#10;      &lt;/Box&gt;&#10;      &lt;Box style={{ width: '566px', padding: '16px 18px', border: '1px solid #D6DCE5', flexDirection: 'column', gap: 10 }}&gt;&#10;        &lt;Text style={{ fontSize: 21, fontWeight: 'bold', color: '#1E4FA8' }}&gt;术语归一（130+ 词条）&lt;/Text&gt;&#10;        &lt;Text style={{ fontSize: 16, color: '#1A2230', lineHeight: 1.55 }}&gt;&#10;          · 口语技术名词常被听错：瑞迪斯→Redis、麦斯扣→MySQL、威优→Vue&#10;        &lt;/Text&gt;&#10;        &lt;Text style={{ fontSize: 16, color: '#1A2230', lineHeight: 1.55 }}&gt;&#10;          · 直接拿去评估会误判「答非所问」，因此识别返回后统一归一&#10;        &lt;/Text&gt;&#10;        &lt;Text style={{ fontSize: 16, color: '#1A2230', lineHeight: 1.55 }}&gt;&#10;          · ASCII 词边界大小写归一：jvm→JVM；仅在词边界匹配，不误伤 test、Elasticsearch&#10;        &lt;/Text&gt;&#10;      &lt;/Box&gt;&#10;    &lt;/Box&gt;&#10;&#10;    &lt;Box style={{ flexDirection: 'row', gap: 20 }}&gt;&#10;      &lt;Box style={{ width: '360px', padding: '16px 18px', background: '#E8EFF8', flexDirection: 'column', gap: 8 }}&gt;&#10;        &lt;Text style={{ fontSize: 21, fontWeight: 'bold', color: '#1E4FA8' }}&gt;可打断&lt;/Text&gt;&#10;        &lt;Text style={{ fontSize: 16, color: '#1A2230', lineHeight: 1.55 }}&gt;&#10;          面试官讲话时按空格立即打断并接管发言权；作答中按空格则提交当前已识别内容。&#10;        &lt;/Text&gt;&#10;      &lt;/Box&gt;&#10;      &lt;Box style={{ width: '360px', padding: '16px 18px', background: '#E8EFF8', flexDirection: 'column', gap: 8 }}&gt;&#10;        &lt;Text style={{ fontSize: 21, fontWeight: 'bold', color: '#1E4FA8' }}&gt;设备可选可切换&lt;/Text&gt;&#10;        &lt;Text style={{ fontSize: 16, color: '#1A2230', lineHeight: 1.55 }}&gt;&#10;          会前检测弹窗列出全部麦克风，会中可热切换并记录选择，体验对齐主流会议软件。&#10;        &lt;/Text&gt;&#10;      &lt;/Box&gt;&#10;      &lt;Box style={{ width: '360px', padding: '16px 18px', background: '#E8EFF8', flexDirection: 'column', gap: 8 }}&gt;&#10;        &lt;Text style={{ fontSize: 21, fontWeight: 'bold', color: '#1E4FA8' }}&gt;不干扰作答&lt;/Text&gt;&#10;        &lt;Text style={{ fontSize: 16, color: '#1A2230', lineHeight: 1.55 }}&gt;&#10;          界面不展示中间识别文本，避免边说边看稿；识别结果只在提交后进入评估。&#10;        &lt;/Text&gt;&#10;      &lt;/Box&gt;&#10;    &lt;/Box&gt;&#10;&#10;    &lt;Box style={{ padding: '14px 18px', background: '#F7F9FC', border: '1px solid #D6DCE5' }}&gt;&#10;      &lt;Text style={{ fontSize: 17, color: '#1A2230', lineHeight: 1.5 }}&gt;&#10;        &lt;span style={{ fontWeight: 'bold', color: '#D9534F' }}&gt;工程细节：&lt;/span&gt;&#10;        所有启动脚本保持纯 ASCII 字符——早期版本因 cmd 按 GBK 解析中文而报「'.' 不是内部或外部命令」，这是 Windows 平台交付时必须绕开的坑。&#10;      &lt;/Text&gt;&#10;    &lt;/Box&gt;&#10;  &lt;/Box&gt;&#10;&#10;  &lt;Box style={{ position: 'absolute', top: 670, left: 60, width: '1160px', flexDirection: 'row', justifyContent: 'space-between' }}&gt;&#10;    &lt;Text style={{ fontSize: 14, color: '#8B97A8' }}&gt;面镜 MockMirror · AI 模拟面试与能力提升软件&lt;/Text&gt;&#10;    &lt;Text style={{ fontSize: 14, color: '#8B97A8' }}&gt;12 / 2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5181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关键技术二：让「开口说话」真正可用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0296525" y="781050"/>
            <a:ext cx="109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04 · Interaction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571500" y="1409700"/>
            <a:ext cx="5391150" cy="20764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42950" y="1562100"/>
            <a:ext cx="504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说完自动提交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42950" y="19050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端点检测：静音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0.8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秒判定一句话结束，自动提交，全程无需键盘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42950" y="22860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结束词字典：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60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余条（「不会」「不知道」「就这些」「讲到这里」…）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42950" y="26670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 b="1">
                <a:solidFill>
                  <a:srgbClr val="D9534F"/>
                </a:solidFill>
                <a:latin typeface="Microsoft YaHei"/>
                <a:ea typeface="Microsoft YaHei"/>
              </a:rPr>
              <a:t>仅判定句尾</a:t>
            </a:r>
            <a:r>
              <a:rPr lang="en-US" sz="1200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200" b="1">
                <a:solidFill>
                  <a:srgbClr val="D9534F"/>
                </a:solidFill>
                <a:latin typeface="Microsoft YaHei"/>
                <a:ea typeface="Microsoft YaHei"/>
              </a:rPr>
              <a:t>字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：避免句中出现「不知道」被误判为说完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42950" y="30480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提交即清缓冲并对同段文本去重，解决两段对话黏连重复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153150" y="1409700"/>
            <a:ext cx="5391150" cy="20764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324600" y="1562100"/>
            <a:ext cx="504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术语归一（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130+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词条）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324600" y="19050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口语技术名词常被听错：瑞迪斯→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Redis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、麦斯扣→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MySQL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、威优→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Vue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324600" y="22860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直接拿去评估会误判「答非所问」，因此识别返回后统一归一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324600" y="2667000"/>
            <a:ext cx="5048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ASCII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词边界大小写归一：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jvm→JVM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；仅在词边界匹配，不误伤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test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Elasticsearch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571500" y="3657600"/>
            <a:ext cx="3429000" cy="12001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42950" y="38100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可打断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42950" y="4133850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面试官讲话时按空格立即打断并接管发言权；作答中按空格则提交当前已识别内容。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4191000" y="3657600"/>
            <a:ext cx="3429000" cy="12001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362450" y="38100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设备可选可切换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362450" y="4133850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会前检测弹窗列出全部麦克风，会中可热切换并记录选择，体验对齐主流会议软件。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7810500" y="3657600"/>
            <a:ext cx="3429000" cy="12001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981950" y="38100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不干扰作答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981950" y="4133850"/>
            <a:ext cx="3086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界面不展示中间识别文本，避免边说边看稿；识别结果只在提交后进入评估。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71500" y="5029200"/>
            <a:ext cx="11049000" cy="8572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42950" y="5162550"/>
            <a:ext cx="10706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工程细节：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所有启动脚本保持纯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ASCII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字符——早期版本因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cmd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按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GBK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解析中文而报「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'.'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不是内部或外部命令」，这是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Windows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平台交付时必须绕开的坑。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12 / 20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30" name="" descr="&lt;Slide style={{ width: '1280px', height: '720px', background: '#FFFFFF', padding: 0, fontFamily: 'Microsoft YaHei' }}&gt;&#10;  &lt;Box style={{ position: 'absolute', top: 60, left: 60, width: '1160px', height: '64px', background: '#1E4FA8', flexDirection: 'row', alignItems: 'center', justifyContent: 'space-between', padding: '0 24px' }}&gt;&#10;    &lt;Text style={{ fontSize: 32, fontWeight: 'bold', color: '#FFFFFF' }}&gt;关键技术三：预取机制与响应性能&lt;/Text&gt;&#10;    &lt;Text style={{ fontSize: 16, color: '#C7D8F5' }}&gt;04 · Performance&lt;/Text&gt;&#10;  &lt;/Box&gt;&#10;&#10;  &lt;Box style={{ position: 'absolute', top: 148, left: 60, width: '1160px', flexDirection: 'column', gap: 20 }}&gt;&#10;    &lt;Box style={{ flexDirection: 'row', gap: 24, alignItems: 'center' }}&gt;&#10;      &lt;Box style={{ width: '420px', padding: '20px 24px', background: '#F7F9FC', border: '1px solid #D6DCE5', flexDirection: 'column', gap: 6 }}&gt;&#10;        &lt;Text style={{ fontSize: 16, color: '#4A5568' }}&gt;未命中预取&lt;/Text&gt;&#10;        &lt;Box style={{ flexDirection: 'row', alignItems: 'flex-end', gap: 6 }}&gt;&#10;          &lt;Text style={{ fontSize: 72, fontWeight: 'bold', color: '#8B97A8' }}&gt;1120&lt;/Text&gt;&#10;          &lt;Text style={{ fontSize: 20, color: '#8B97A8' }}&gt;ms&lt;/Text&gt;&#10;        &lt;/Box&gt;&#10;        &lt;Text style={{ fontSize: 15, color: '#4A5568' }}&gt;学生说完后再开始生成下一句&lt;/Text&gt;&#10;      &lt;/Box&gt;&#10;      &lt;Box style={{ width: '60px', alignItems: 'center', justifyContent: 'center' }}&gt;&#10;        &lt;Text style={{ fontSize: 30, fontWeight: 'bold', color: '#D9534F' }}&gt;→&lt;/Text&gt;&#10;      &lt;/Box&gt;&#10;      &lt;Box style={{ width: '420px', padding: '20px 24px', background: '#E8EFF8', flexDirection: 'column', gap: 6 }}&gt;&#10;        &lt;Text style={{ fontSize: 16, color: '#1E4FA8' }}&gt;命中预取&lt;/Text&gt;&#10;        &lt;Box style={{ flexDirection: 'row', alignItems: 'flex-end', gap: 6 }}&gt;&#10;          &lt;Text style={{ fontSize: 72, fontWeight: 'bold', color: '#1E4FA8' }}&gt;6&lt;/Text&gt;&#10;          &lt;Text style={{ fontSize: 20, color: '#1E4FA8' }}&gt;ms&lt;/Text&gt;&#10;        &lt;/Box&gt;&#10;        &lt;Text style={{ fontSize: 15, color: '#1A2230' }}&gt;说话期间已准备好，说完即出&lt;/Text&gt;&#10;      &lt;/Box&gt;&#10;      &lt;Box style={{ width: '196px', padding: '18px', border: '1px solid #D6DCE5', flexDirection: 'column', gap: 6 }}&gt;&#10;        &lt;Text style={{ fontSize: 16, color: '#4A5568' }}&gt;提升幅度&lt;/Text&gt;&#10;        &lt;Text style={{ fontSize: 40, fontWeight: 'bold', color: '#D9534F' }}&gt;187×&lt;/Text&gt;&#10;        &lt;Text style={{ fontSize: 14, color: '#4A5568' }}&gt;对话不再出现可感知停顿&lt;/Text&gt;&#10;      &lt;/Box&gt;&#10;    &lt;/Box&gt;&#10;&#10;    &lt;Box style={{ flexDirection: 'row', gap: 20 }}&gt;&#10;      &lt;Box style={{ width: '566px', padding: '16px 18px', border: '1px solid #D6DCE5', flexDirection: 'column', gap: 10 }}&gt;&#10;        &lt;Text style={{ fontSize: 21, fontWeight: 'bold', color: '#1E4FA8' }}&gt;预取怎么做&lt;/Text&gt;&#10;        &lt;Text style={{ fontSize: 16, color: '#1A2230', lineHeight: 1.55 }}&gt;&#10;          1. 学生开口的同时，前端把当前已识别文本投递给服务端&#10;        &lt;/Text&gt;&#10;        &lt;Text style={{ fontSize: 16, color: '#1A2230', lineHeight: 1.55 }}&gt;&#10;          2. 服务端并发生成「下一步可能要说的话」并缓存&#10;        &lt;/Text&gt;&#10;        &lt;Text style={{ fontSize: 16, color: '#1A2230', lineHeight: 1.55 }}&gt;&#10;          3. 以答案前 60 字作为签名；提交时签名一致则直接复用，不一致则重新生成&#10;        &lt;/Text&gt;&#10;      &lt;/Box&gt;&#10;      &lt;Box style={{ width: '566px', padding: '16px 18px', border: '1px solid #D6DCE5', flexDirection: 'column', gap: 10 }}&gt;&#10;        &lt;Text style={{ fontSize: 21, fontWeight: 'bold', color: '#1E4FA8' }}&gt;其他性能措施&lt;/Text&gt;&#10;        &lt;Text style={{ fontSize: 16, color: '#1A2230', lineHeight: 1.55 }}&gt;· 检索增强用 BM25 而非向量模型：毫秒级响应，且不引入模型依赖&lt;/Text&gt;&#10;        &lt;Text style={{ fontSize: 16, color: '#1A2230', lineHeight: 1.55 }}&gt;· 评估官与陪练官并行执行，报告生成 8~15 秒（目标 ≤ 30 秒）&lt;/Text&gt;&#10;        &lt;Text style={{ fontSize: 16, color: '#1A2230', lineHeight: 1.55 }}&gt;· 提示词输入长度截断，避免超窗导致的失败重试&lt;/Text&gt;&#10;      &lt;/Box&gt;&#10;    &lt;/Box&gt;&#10;&#10;    &lt;Box style={{ padding: '14px 18px', background: '#E8EFF8' }}&gt;&#10;      &lt;Text style={{ fontSize: 17, color: '#1A2230', lineHeight: 1.5 }}&gt;&#10;        &lt;span style={{ fontWeight: 'bold', color: '#D9534F' }}&gt;为什么重要：&lt;/span&gt;&#10;        面试是实时对话场景，超过 1 秒的停顿就会破坏「像真人」的体验。预取把串行等待变成并行准备，是真实感的关键一环。&#10;      &lt;/Text&gt;&#10;    &lt;/Box&gt;&#10;  &lt;/Box&gt;&#10;&#10;  &lt;Box style={{ position: 'absolute', top: 670, left: 60, width: '1160px', flexDirection: 'row', justifyContent: 'space-between' }}&gt;&#10;    &lt;Text style={{ fontSize: 14, color: '#8B97A8' }}&gt;面镜 MockMirror · AI 模拟面试与能力提升软件&lt;/Text&gt;&#10;    &lt;Text style={{ fontSize: 14, color: '#8B97A8' }}&gt;13 / 2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4572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关键技术三：预取机制与响应性能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153650" y="7810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04 · Performance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571500" y="1409700"/>
            <a:ext cx="4000500" cy="168592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00100" y="160020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未命中预取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00100" y="1847850"/>
            <a:ext cx="16954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8B97A8"/>
                </a:solidFill>
                <a:latin typeface="Microsoft YaHei"/>
                <a:ea typeface="Microsoft YaHei"/>
              </a:rPr>
              <a:t>1120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2552700" y="2447925"/>
            <a:ext cx="266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ms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00100" y="2733675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学生说完后再开始生成下一句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914900" y="208597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D9534F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5562600" y="1409700"/>
            <a:ext cx="4000500" cy="16859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791200" y="160020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命中预取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791200" y="1847850"/>
            <a:ext cx="4286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E4FA8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276975" y="2447925"/>
            <a:ext cx="266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E4FA8"/>
                </a:solidFill>
                <a:latin typeface="Microsoft YaHei"/>
                <a:ea typeface="Microsoft YaHei"/>
              </a:rPr>
              <a:t>ms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791200" y="2733675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说话期间已准备好，说完即出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9763125" y="1619250"/>
            <a:ext cx="1866900" cy="126682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934575" y="179070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提升幅度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934575" y="2038350"/>
            <a:ext cx="1524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534F"/>
                </a:solidFill>
                <a:latin typeface="Microsoft YaHei"/>
                <a:ea typeface="Microsoft YaHei"/>
              </a:rPr>
              <a:t>187×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934575" y="2552700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对话不再出现可感知停顿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71500" y="3286125"/>
            <a:ext cx="5391150" cy="19812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42950" y="3438525"/>
            <a:ext cx="504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预取怎么做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42950" y="3781425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学生开口的同时，前端把当前已识别文本投递给服务端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42950" y="4162425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2.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服务端并发生成「下一步可能要说的话」并缓存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42950" y="4543425"/>
            <a:ext cx="5048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3.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以答案前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字作为签名；提交时签名一致则直接复用，不一致则重新生成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153150" y="3286125"/>
            <a:ext cx="5391150" cy="19812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324600" y="3438525"/>
            <a:ext cx="504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其他性能措施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324600" y="3781425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检索增强用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BM25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而非向量模型：毫秒级响应，且不引入模型依赖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324600" y="4162425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评估官与陪练官并行执行，报告生成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8~15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秒（目标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≤ 30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秒）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324600" y="4543425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提示词输入长度截断，避免超窗导致的失败重试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571500" y="5457825"/>
            <a:ext cx="11049000" cy="5619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42950" y="5591175"/>
            <a:ext cx="10706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为什么重要：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面试是实时对话场景，超过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秒的停顿就会破坏「像真人」的体验。预取把串行等待变成并行准备，是真实感的关键一环。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13 / 20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4" name="" descr="&lt;Slide style={{ width: '1280px', height: '720px', background: '#FFFFFF', padding: 0, fontFamily: 'Microsoft YaHei' }}&gt;&#10;  &lt;Box style={{ position: 'absolute', top: 60, left: 60, width: '1160px', height: '64px', background: '#1E4FA8', flexDirection: 'row', alignItems: 'center', justifyContent: 'space-between', padding: '0 24px' }}&gt;&#10;    &lt;Text style={{ fontSize: 32, fontWeight: 'bold', color: '#FFFFFF' }}&gt;数据安全与运行可靠性&lt;/Text&gt;&#10;    &lt;Text style={{ fontSize: 16, color: '#C7D8F5' }}&gt;04 · Reliability&lt;/Text&gt;&#10;  &lt;/Box&gt;&#10;&#10;  &lt;Box style={{ position: 'absolute', top: 148, left: 60, width: '1160px', flexDirection: 'column', gap: 18 }}&gt;&#10;    &lt;Box style={{ flexDirection: 'row', gap: 20 }}&gt;&#10;      &lt;Box style={{ width: '566px', padding: '16px 18px', border: '1px solid #D6DCE5', flexDirection: 'column', gap: 10 }}&gt;&#10;        &lt;Text style={{ fontSize: 21, fontWeight: 'bold', color: '#1E4FA8' }}&gt;数据安全&lt;/Text&gt;&#10;        &lt;Text style={{ fontSize: 16, color: '#1A2230', lineHeight: 1.55 }}&gt;· 口令随机盐 + 哈希存储，不保存明文；管理后台独立口令鉴权&lt;/Text&gt;&#10;        &lt;Text style={{ fontSize: 16, color: '#1A2230', lineHeight: 1.55 }}&gt;· 大模型密钥仅存本地配置文件，该文件与备份目录已纳入 .gitignore&lt;/Text&gt;&#10;        &lt;Text style={{ fontSize: 16, color: '#1A2230', lineHeight: 1.55 }}&gt;· 摄像头视频帧仅在本机内存推理，不上传、不落盘&lt;/Text&gt;&#10;        &lt;Text style={{ fontSize: 16, color: '#1A2230', lineHeight: 1.55 }}&gt;· 静态资源路径规范化后校验前缀，越界返回 403；请求体超 5 MB 直接断开&lt;/Text&gt;&#10;      &lt;/Box&gt;&#10;      &lt;Box style={{ width: '566px', padding: '16px 18px', border: '1px solid #D6DCE5', flexDirection: 'column', gap: 10 }}&gt;&#10;        &lt;Text style={{ fontSize: 21, fontWeight: 'bold', color: '#1E4FA8' }}&gt;运行可靠性&lt;/Text&gt;&#10;        &lt;Text style={{ fontSize: 16, color: '#1A2230', lineHeight: 1.55 }}&gt;· 原子写：先写临时文件再重命名，写一半崩溃不会损坏数据库&lt;/Text&gt;&#10;        &lt;Text style={{ fontSize: 16, color: '#1A2230', lineHeight: 1.55 }}&gt;· 大模型失败自动重试一次；仍失败降级为离线面试官，面试继续&lt;/Text&gt;&#10;        &lt;Text style={{ fontSize: 16, color: '#1A2230', lineHeight: 1.55 }}&gt;· 端口被占用、退出信号均给出可操作处理，不留半截数据&lt;/Text&gt;&#10;        &lt;Text style={{ fontSize: 16, color: '#1A2230', lineHeight: 1.55 }}&gt;· 数据库带 schema 版本，迁移前自动备份&lt;/Text&gt;&#10;      &lt;/Box&gt;&#10;    &lt;/Box&gt;&#10;&#10;    &lt;Box style={{ padding: '16px 18px', background: '#E8EFF8', flexDirection: 'column', gap: 8 }}&gt;&#10;      &lt;Text style={{ fontSize: 20, fontWeight: 'bold', color: '#1A2230' }}&gt;一个真实缺陷的根因分析&lt;/Text&gt;&#10;      &lt;Text style={{ fontSize: 16, color: '#1A2230', lineHeight: 1.55 }}&gt;&#10;        现象：服务在面试中途偶发退出，整场面试中断。&#10;      &lt;/Text&gt;&#10;      &lt;Text style={{ fontSize: 16, color: '#1A2230', lineHeight: 1.55 }}&gt;&#10;        根因：&lt;span style={{ fontWeight: 'bold', color: '#D9534F' }}&gt;Node 对未捕获异常与未处理 Promise 拒绝的默认行为是终止进程&lt;/span&gt;——一个边缘异常就会杀死整个服务。&#10;      &lt;/Text&gt;&#10;      &lt;Text style={{ fontSize: 16, color: '#1A2230', lineHeight: 1.55 }}&gt;&#10;        修复：增加进程级兜底，异常只记录堆栈不终止进程，保证二十分钟的连续会话不被一次异常打断。&#10;      &lt;/Text&gt;&#10;    &lt;/Box&gt;&#10;&#10;    &lt;Box style={{ padding: '14px 18px', background: '#F7F9FC', border: '1px solid #D6DCE5' }}&gt;&#10;      &lt;Text style={{ fontSize: 17, color: '#1A2230', lineHeight: 1.5 }}&gt;&#10;        &lt;span style={{ fontWeight: 'bold' }}&gt;复盘方法论：&lt;/span&gt;&#10;        先找根因再动手。本项目早期若干问题（语音 network 错误、服务退出、面试结束不了）都曾有过「换个环境 / 换个浏览器」的绕过方案，但绕过式修复在演示现场一定会再次暴露。&#10;      &lt;/Text&gt;&#10;    &lt;/Box&gt;&#10;  &lt;/Box&gt;&#10;&#10;  &lt;Box style={{ position: 'absolute', top: 670, left: 60, width: '1160px', flexDirection: 'row', justifyContent: 'space-between' }}&gt;&#10;    &lt;Text style={{ fontSize: 14, color: '#8B97A8' }}&gt;面镜 MockMirror · AI 模拟面试与能力提升软件&lt;/Text&gt;&#10;    &lt;Text style={{ fontSize: 14, color: '#8B97A8' }}&gt;14 / 2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数据安全与运行可靠性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0382250" y="781050"/>
            <a:ext cx="100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04 · Reliability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71500" y="1409700"/>
            <a:ext cx="5391150" cy="23622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42950" y="1562100"/>
            <a:ext cx="504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数据安全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42950" y="19050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口令随机盐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哈希存储，不保存明文；管理后台独立口令鉴权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42950" y="22860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大模型密钥仅存本地配置文件，该文件与备份目录已纳入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.gitignore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42950" y="26670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摄像头视频帧仅在本机内存推理，不上传、不落盘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42950" y="3048000"/>
            <a:ext cx="5048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静态资源路径规范化后校验前缀，越界返回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403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；请求体超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5 MB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直接断开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153150" y="1409700"/>
            <a:ext cx="5391150" cy="23622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324600" y="1562100"/>
            <a:ext cx="504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运行可靠性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324600" y="19050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原子写：先写临时文件再重命名，写一半崩溃不会损坏数据库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324600" y="22860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大模型失败自动重试一次；仍失败降级为离线面试官，面试继续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324600" y="26670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端口被占用、退出信号均给出可操作处理，不留半截数据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324600" y="30480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数据库带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schema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版本，迁移前自动备份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571500" y="3943350"/>
            <a:ext cx="11049000" cy="16192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42950" y="4095750"/>
            <a:ext cx="1070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一个真实缺陷的根因分析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42950" y="4400550"/>
            <a:ext cx="107061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现象：服务在面试中途偶发退出，整场面试中断。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42950" y="4762500"/>
            <a:ext cx="107061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根因：</a:t>
            </a:r>
            <a:r>
              <a:rPr lang="en-US" sz="1200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Node </a:t>
            </a:r>
            <a:r>
              <a:rPr lang="zh-CN" sz="1200" b="1">
                <a:solidFill>
                  <a:srgbClr val="D9534F"/>
                </a:solidFill>
                <a:latin typeface="Microsoft YaHei"/>
                <a:ea typeface="Microsoft YaHei"/>
              </a:rPr>
              <a:t>对未捕获异常与未处理</a:t>
            </a:r>
            <a:r>
              <a:rPr lang="en-US" sz="1200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Promise </a:t>
            </a:r>
            <a:r>
              <a:rPr lang="zh-CN" sz="1200" b="1">
                <a:solidFill>
                  <a:srgbClr val="D9534F"/>
                </a:solidFill>
                <a:latin typeface="Microsoft YaHei"/>
                <a:ea typeface="Microsoft YaHei"/>
              </a:rPr>
              <a:t>拒绝的默认行为是终止进程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——一个边缘异常就会杀死整个服务。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42950" y="5124450"/>
            <a:ext cx="107061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修复：增加进程级兜底，异常只记录堆栈不终止进程，保证二十分钟的连续会话不被一次异常打断。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571500" y="5734050"/>
            <a:ext cx="11049000" cy="8572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42950" y="5867400"/>
            <a:ext cx="10706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复盘方法论：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先找根因再动手。本项目早期若干问题（语音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network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错误、服务退出、面试结束不了）都曾有过「换个环境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换个浏览器」的绕过方案，但绕过式修复在演示现场一定会再次暴露。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14 / 20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style={{ width: '1280px', height: '720px', background: '#FFFFFF', padding: 0, fontFamily: 'Microsoft YaHei' }}&gt;&#10;  &lt;Box style={{ position: 'absolute', top: 60, left: 60, width: '1160px', height: '64px', background: '#1E4FA8', flexDirection: 'row', alignItems: 'center', justifyContent: 'space-between', padding: '0 24px' }}&gt;&#10;    &lt;Text style={{ fontSize: 32, fontWeight: 'bold', color: '#FFFFFF' }}&gt;系统演示流程&lt;/Text&gt;&#10;    &lt;Text style={{ fontSize: 16, color: '#C7D8F5' }}&gt;04 · Demo&lt;/Text&gt;&#10;  &lt;/Box&gt;&#10;&#10;  &lt;Box style={{ position: 'absolute', top: 148, left: 60, width: '1160px', flexDirection: 'column', gap: 16 }}&gt;&#10;    &lt;Box style={{ flexDirection: 'row', gap: 12 }}&gt;&#10;      &lt;Box style={{ width: '222px', padding: '14px', background: '#F7F9FC', border: '1px solid #D6DCE5', flexDirection: 'column', gap: 6 }}&gt;&#10;        &lt;Text style={{ fontSize: 18, fontWeight: 'bold', color: '#1E4FA8' }}&gt;① 选岗位&lt;/Text&gt;&#10;        &lt;Text style={{ fontSize: 15, color: '#4A5568', lineHeight: 1.5 }}&gt;首页三栏工作台，可粘贴 JD 定制题目&lt;/Text&gt;&#10;      &lt;/Box&gt;&#10;      &lt;Box style={{ width: '222px', padding: '14px', background: '#F7F9FC', border: '1px solid #D6DCE5', flexDirection: 'column', gap: 6 }}&gt;&#10;        &lt;Text style={{ fontSize: 18, fontWeight: 'bold', color: '#1E4FA8' }}&gt;② 设备检测&lt;/Text&gt;&#10;        &lt;Text style={{ fontSize: 15, color: '#4A5568', lineHeight: 1.5 }}&gt;列出麦克风与摄像头，可选设备并记住&lt;/Text&gt;&#10;      &lt;/Box&gt;&#10;      &lt;Box style={{ width: '222px', padding: '14px', background: '#F7F9FC', border: '1px solid #D6DCE5', flexDirection: 'column', gap: 6 }}&gt;&#10;        &lt;Text style={{ fontSize: 18, fontWeight: 'bold', color: '#1E4FA8' }}&gt;③ 开口作答&lt;/Text&gt;&#10;        &lt;Text style={{ fontSize: 15, color: '#4A5568', lineHeight: 1.5 }}&gt;面试官提问，学生直接说，无需打字&lt;/Text&gt;&#10;      &lt;/Box&gt;&#10;      &lt;Box style={{ width: '222px', padding: '14px', background: '#F7F9FC', border: '1px solid #D6DCE5', flexDirection: 'column', gap: 6 }}&gt;&#10;        &lt;Text style={{ fontSize: 18, fontWeight: 'bold', color: '#1E4FA8' }}&gt;④ 自动提交&lt;/Text&gt;&#10;        &lt;Text style={{ fontSize: 15, color: '#4A5568', lineHeight: 1.5 }}&gt;停顿或结束词命中即提交，可空格打断&lt;/Text&gt;&#10;      &lt;/Box&gt;&#10;      &lt;Box style={{ width: '222px', padding: '14px', background: '#E8EFF8', border: '1px solid #D6DCE5', flexDirection: 'column', gap: 6 }}&gt;&#10;        &lt;Text style={{ fontSize: 18, fontWeight: 'bold', color: '#1E4FA8' }}&gt;⑤ 出报告&lt;/Text&gt;&#10;        &lt;Text style={{ fontSize: 15, color: '#4A5568', lineHeight: 1.5 }}&gt;逐题复核 + 陪练计划 + 全程回放&lt;/Text&gt;&#10;      &lt;/Box&gt;&#10;    &lt;/Box&gt;&#10;&#10;    &lt;Box style={{ flexDirection: 'row', gap: 20 }}&gt;&#10;      &lt;Box style={{ width: '566px', padding: '16px 18px', border: '1px solid #D6DCE5', flexDirection: 'column', gap: 10 }}&gt;&#10;        &lt;Text style={{ fontSize: 21, fontWeight: 'bold', color: '#1E4FA8' }}&gt;演示中值得重点展示的三处&lt;/Text&gt;&#10;        &lt;Text style={{ fontSize: 16, color: '#1A2230', lineHeight: 1.55 }}&gt;&#10;          · &lt;span style={{ fontWeight: 'bold' }}&gt;Agent 工作台&lt;/span&gt;：实时看到面试官在想什么、调了哪个工具、工具返回了什么&#10;        &lt;/Text&gt;&#10;        &lt;Text style={{ fontSize: 16, color: '#1A2230', lineHeight: 1.55 }}&gt;&#10;          · &lt;span style={{ fontWeight: 'bold' }}&gt;答偏时的自主纠正&lt;/span&gt;：学生答非所问，Agent 会礼貌拉回并重新提问&#10;        &lt;/Text&gt;&#10;        &lt;Text style={{ fontSize: 16, color: '#1A2230', lineHeight: 1.55 }}&gt;&#10;          · &lt;span style={{ fontWeight: 'bold' }}&gt;报告页的双 Agent 产出&lt;/span&gt;：评估官逐题「该怎么答」+ 陪练官一周计划&#10;        &lt;/Text&gt;&#10;      &lt;/Box&gt;&#10;      &lt;Box style={{ width: '566px', padding: '16px 18px', border: '1px solid #D6DCE5', flexDirection: 'column', gap: 10 }}&gt;&#10;        &lt;Text style={{ fontSize: 21, fontWeight: 'bold', color: '#1E4FA8' }}&gt;演示环境准备&lt;/Text&gt;&#10;        &lt;Text style={{ fontSize: 16, color: '#1A2230', lineHeight: 1.55 }}&gt;· Windows 双击「启动面试.bat」，macOS / Linux 执行 start.sh&lt;/Text&gt;&#10;        &lt;Text style={{ fontSize: 16, color: '#1A2230', lineHeight: 1.55 }}&gt;· 首次启动自动安装识别运行时与模型（约 192 MB），支持镜像兜底与跳过&lt;/Text&gt;&#10;        &lt;Text style={{ fontSize: 16, color: '#1A2230', lineHeight: 1.55 }}&gt;· 全新目录实测：模型已缓存时约 9 秒完成启动&lt;/Text&gt;&#10;        &lt;Text style={{ fontSize: 16, color: '#1A2230', lineHeight: 1.55 }}&gt;· 未配置大模型时给出明确提示，可切换离线演示模式&lt;/Text&gt;&#10;      &lt;/Box&gt;&#10;    &lt;/Box&gt;&#10;&#10;    &lt;Box style={{ padding: '14px 18px', background: '#E8EFF8' }}&gt;&#10;      &lt;Text style={{ fontSize: 17, color: '#1A2230', lineHeight: 1.5 }}&gt;&#10;        &lt;span style={{ fontWeight: 'bold', color: '#D9534F' }}&gt;演示建议：&lt;/span&gt;&#10;        让面试官先答偏一次、再说一次「不会」，可以完整看到 Agent 的「纠正」与「降难度换题」两种自主决策。&#10;      &lt;/Text&gt;&#10;    &lt;/Box&gt;&#10;  &lt;/Box&gt;&#10;&#10;  &lt;Box style={{ position: 'absolute', top: 670, left: 60, width: '1160px', flexDirection: 'row', justifyContent: 'space-between' }}&gt;&#10;    &lt;Text style={{ fontSize: 14, color: '#8B97A8' }}&gt;面镜 MockMirror · AI 模拟面试与能力提升软件&lt;/Text&gt;&#10;    &lt;Text style={{ fontSize: 14, color: '#8B97A8' }}&gt;15 / 2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1828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系统演示流程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639425" y="781050"/>
            <a:ext cx="752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04 · Demo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571500" y="1409700"/>
            <a:ext cx="2114550" cy="1047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04850" y="1543050"/>
            <a:ext cx="1847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选岗位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04850" y="1809750"/>
            <a:ext cx="1847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首页三栏工作台，可粘贴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JD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定制题目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2800350" y="1409700"/>
            <a:ext cx="2114550" cy="1047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2933700" y="1543050"/>
            <a:ext cx="1847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设备检测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2933700" y="1809750"/>
            <a:ext cx="1847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列出麦克风与摄像头，可选设备并记住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5029200" y="1409700"/>
            <a:ext cx="2114550" cy="1047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162550" y="1543050"/>
            <a:ext cx="1847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开口作答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162550" y="1809750"/>
            <a:ext cx="1847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面试官提问，学生直接说，无需打字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7258050" y="1409700"/>
            <a:ext cx="2114550" cy="1047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391400" y="1543050"/>
            <a:ext cx="1847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自动提交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391400" y="1809750"/>
            <a:ext cx="1847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停顿或结束词命中即提交，可空格打断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9486900" y="1409700"/>
            <a:ext cx="2114550" cy="1047750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9620250" y="1543050"/>
            <a:ext cx="1847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⑤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出报告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9620250" y="1809750"/>
            <a:ext cx="1847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逐题复核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陪练计划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全程回放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571500" y="2609850"/>
            <a:ext cx="5391150" cy="23622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42950" y="2762250"/>
            <a:ext cx="504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演示中值得重点展示的三处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42950" y="3105150"/>
            <a:ext cx="5048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工作台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：实时看到面试官在想什么、调了哪个工具、工具返回了什么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42950" y="37719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答偏时的自主纠正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：学生答非所问，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会礼貌拉回并重新提问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42950" y="41529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报告页的双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产出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：评估官逐题「该怎么答」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陪练官一周计划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153150" y="2609850"/>
            <a:ext cx="5391150" cy="23622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324600" y="2762250"/>
            <a:ext cx="504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演示环境准备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324600" y="310515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Windows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双击「启动面试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.bat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」，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macOS / Linux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执行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start.sh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324600" y="3486150"/>
            <a:ext cx="5048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首次启动自动安装识别运行时与模型（约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192 MB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），支持镜像兜底与跳过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324600" y="41529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全新目录实测：模型已缓存时约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秒完成启动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324600" y="45339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未配置大模型时给出明确提示，可切换离线演示模式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71500" y="5124450"/>
            <a:ext cx="11049000" cy="5619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42950" y="5257800"/>
            <a:ext cx="10706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演示建议：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让面试官先答偏一次、再说一次「不会」，可以完整看到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的「纠正」与「降难度换题」两种自主决策。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15 / 20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25" name="" descr="&lt;Slide style={{ width: '1280px', height: '720px', background: '#FFFFFF', padding: 0, fontFamily: 'Microsoft YaHei' }}&gt;&#10;  &lt;Box style={{ position: 'absolute', top: 60, left: 60, width: '1160px', height: '64px', background: '#1E4FA8', flexDirection: 'row', alignItems: 'center', justifyContent: 'space-between', padding: '0 24px' }}&gt;&#10;    &lt;Text style={{ fontSize: 32, fontWeight: 'bold', color: '#FFFFFF' }}&gt;测试验证结果&lt;/Text&gt;&#10;    &lt;Text style={{ fontSize: 16, color: '#C7D8F5' }}&gt;05 · Evaluation&lt;/Text&gt;&#10;  &lt;/Box&gt;&#10;&#10;  &lt;Box style={{ position: 'absolute', top: 148, left: 60, width: '1160px', flexDirection: 'column', gap: 10 }}&gt;&#10;    &lt;Box style={{ flexDirection: 'row', height: '44px', background: '#1E4FA8', alignItems: 'center', padding: '0 16px' }}&gt;&#10;      &lt;Text style={{ fontSize: 17, fontWeight: 'bold', color: '#FFFFFF', width: '420px' }}&gt;测试项&lt;/Text&gt;&#10;      &lt;Text style={{ fontSize: 17, fontWeight: 'bold', color: '#FFFFFF', width: '300px' }}&gt;覆盖内容&lt;/Text&gt;&#10;      &lt;Text style={{ fontSize: 17, fontWeight: 'bold', color: '#FFFFFF', width: '240px' }}&gt;结果&lt;/Text&gt;&#10;      &lt;Text style={{ fontSize: 17, fontWeight: 'bold', color: '#FFFFFF', width: '184px' }}&gt;结论&lt;/Text&gt;&#10;    &lt;/Box&gt;&#10;&#10;    &lt;Box style={{ flexDirection: 'row', minHeight: '52px', borderBottom: '1px solid #E5E7EB', alignItems: 'center', padding: '0 16px' }}&gt;&#10;      &lt;Text style={{ fontSize: 16, color: '#1A2230', width: '420px', lineHeight: 1.5 }}&gt;MCP 协议一致性（18 项）&lt;/Text&gt;&#10;      &lt;Text style={{ fontSize: 15, color: '#4A5568', width: '300px', lineHeight: 1.5 }}&gt;握手、工具、资源、提示词、错误处理&lt;/Text&gt;&#10;      &lt;Text style={{ fontSize: 16, color: '#1A2230', width: '240px', lineHeight: 1.5 }}&gt;18 / 18 通过&lt;/Text&gt;&#10;      &lt;Text style={{ fontSize: 16, fontWeight: 'bold', color: '#1E4FA8', width: '184px' }}&gt;通过&lt;/Text&gt;&#10;    &lt;/Box&gt;&#10;&#10;    &lt;Box style={{ flexDirection: 'row', minHeight: '52px', borderBottom: '1px solid #E5E7EB', alignItems: 'center', padding: '0 16px' }}&gt;&#10;      &lt;Text style={{ fontSize: 16, color: '#1A2230', width: '420px', lineHeight: 1.5 }}&gt;MCP 真实面试全流程（12 项）&lt;/Text&gt;&#10;      &lt;Text style={{ fontSize: 15, color: '#4A5568', width: '300px', lineHeight: 1.5 }}&gt;开面试 → 逐轮作答 → 出报告 → 回读&lt;/Text&gt;&#10;      &lt;Text style={{ fontSize: 16, color: '#1A2230', width: '240px', lineHeight: 1.5 }}&gt;12 / 12 通过，13.4 s&lt;/Text&gt;&#10;      &lt;Text style={{ fontSize: 16, fontWeight: 'bold', color: '#1E4FA8', width: '184px' }}&gt;通过&lt;/Text&gt;&#10;    &lt;/Box&gt;&#10;&#10;    &lt;Box style={{ flexDirection: 'row', minHeight: '52px', borderBottom: '1px solid #E5E7EB', alignItems: 'center', padding: '0 16px' }}&gt;&#10;      &lt;Text style={{ fontSize: 16, color: '#1A2230', width: '420px', lineHeight: 1.5 }}&gt;浏览器端到端（4 组）&lt;/Text&gt;&#10;      &lt;Text style={{ fontSize: 15, color: '#4A5568', width: '300px', lineHeight: 1.5 }}&gt;流程、语音链路、设备切换、Agent 面板&lt;/Text&gt;&#10;      &lt;Text style={{ fontSize: 16, color: '#1A2230', width: '240px', lineHeight: 1.5 }}&gt;控制台零报错&lt;/Text&gt;&#10;      &lt;Text style={{ fontSize: 16, fontWeight: 'bold', color: '#1E4FA8', width: '184px' }}&gt;通过&lt;/Text&gt;&#10;    &lt;/Box&gt;&#10;&#10;    &lt;Box style={{ flexDirection: 'row', minHeight: '52px', borderBottom: '1px solid #E5E7EB', alignItems: 'center', padding: '0 16px' }}&gt;&#10;      &lt;Text style={{ fontSize: 16, color: '#1A2230', width: '420px', lineHeight: 1.5 }}&gt;AI 安全与边界实验（3 组）&lt;/Text&gt;&#10;      &lt;Text style={{ fontSize: 15, color: '#4A5568', width: '300px', lineHeight: 1.5 }}&gt;提示注入、幻觉诱导、空回答&lt;/Text&gt;&#10;      &lt;Text style={{ fontSize: 16, color: '#1A2230', width: '240px', lineHeight: 1.5 }}&gt;未泄露、未操纵评分、无异常&lt;/Text&gt;&#10;      &lt;Text style={{ fontSize: 16, fontWeight: 'bold', color: '#1E4FA8', width: '184px' }}&gt;通过&lt;/Text&gt;&#10;    &lt;/Box&gt;&#10;&#10;    &lt;Box style={{ flexDirection: 'row', minHeight: '52px', borderBottom: '1px solid #E5E7EB', alignItems: 'center', padding: '0 16px' }}&gt;&#10;      &lt;Text style={{ fontSize: 16, color: '#1A2230', width: '420px', lineHeight: 1.5 }}&gt;Python Agent 端&lt;/Text&gt;&#10;      &lt;Text style={{ fontSize: 15, color: '#4A5568', width: '300px', lineHeight: 1.5 }}&gt;Agent 核心、知识库、工具注册&lt;/Text&gt;&#10;      &lt;Text style={{ fontSize: 16, color: '#1A2230', width: '240px', lineHeight: 1.5 }}&gt;31 passed（0.70 s）&lt;/Text&gt;&#10;      &lt;Text style={{ fontSize: 16, fontWeight: 'bold', color: '#1E4FA8', width: '184px' }}&gt;通过&lt;/Text&gt;&#10;    &lt;/Box&gt;&#10;&#10;    &lt;Box style={{ flexDirection: 'row', minHeight: '52px', borderBottom: '1px solid #E5E7EB', alignItems: 'center', padding: '0 16px' }}&gt;&#10;      &lt;Text style={{ fontSize: 16, color: '#1A2230', width: '420px', lineHeight: 1.5 }}&gt;性能指标核验&lt;/Text&gt;&#10;      &lt;Text style={{ fontSize: 15, color: '#4A5568', width: '300px', lineHeight: 1.5 }}&gt;RTF、响应延迟、报告耗时、安装耗时&lt;/Text&gt;&#10;      &lt;Text style={{ fontSize: 16, color: '#1A2230', width: '240px', lineHeight: 1.5 }}&gt;全部优于目标值&lt;/Text&gt;&#10;      &lt;Text style={{ fontSize: 16, fontWeight: 'bold', color: '#1E4FA8', width: '184px' }}&gt;通过&lt;/Text&gt;&#10;    &lt;/Box&gt;&#10;&#10;    &lt;Box style={{ padding: '14px 18px', background: '#E8EFF8', marginTop: 6 }}&gt;&#10;      &lt;Text style={{ fontSize: 17, color: '#1A2230', lineHeight: 1.5 }}&gt;&#10;        &lt;span style={{ fontWeight: 'bold', color: '#D9534F' }}&gt;测试说明：&lt;/span&gt;&#10;        AI 相关测试真实调用线上大模型，不使用 mock；浏览器测试用假麦克风注入真实语音，以验证端点检测与自动提交的实际行为。&#10;      &lt;/Text&gt;&#10;    &lt;/Box&gt;&#10;  &lt;/Box&gt;&#10;&#10;  &lt;Box style={{ position: 'absolute', top: 670, left: 60, width: '1160px', flexDirection: 'row', justifyContent: 'space-between' }}&gt;&#10;    &lt;Text style={{ fontSize: 14, color: '#8B97A8' }}&gt;面镜 MockMirror · AI 模拟面试与能力提升软件&lt;/Text&gt;&#10;    &lt;Text style={{ fontSize: 14, color: '#8B97A8' }}&gt;16 / 2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1828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测试验证结果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0325100" y="78105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05 · Evaluation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571500" y="1409700"/>
            <a:ext cx="110490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23900" y="1524000"/>
            <a:ext cx="3943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测试项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667250" y="1524000"/>
            <a:ext cx="2819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覆盖内容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486650" y="1524000"/>
            <a:ext cx="2257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744075" y="1524000"/>
            <a:ext cx="1724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571500" y="1924050"/>
            <a:ext cx="11049000" cy="504825"/>
          </a:xfrm>
          <a:custGeom>
            <a:pathLst>
              <a:path w="1160" h="53">
                <a:moveTo>
                  <a:pt x="0" y="52"/>
                </a:moveTo>
                <a:lnTo>
                  <a:pt x="1160" y="52"/>
                </a:lnTo>
                <a:lnTo>
                  <a:pt x="1160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23900" y="2028825"/>
            <a:ext cx="3943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协议一致性（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18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项）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667250" y="2038350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握手、工具、资源、提示词、错误处理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486650" y="2028825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18 / 18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9744075" y="207645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571500" y="2514600"/>
            <a:ext cx="11049000" cy="504825"/>
          </a:xfrm>
          <a:custGeom>
            <a:pathLst>
              <a:path w="1160" h="53">
                <a:moveTo>
                  <a:pt x="0" y="52"/>
                </a:moveTo>
                <a:lnTo>
                  <a:pt x="1160" y="52"/>
                </a:lnTo>
                <a:lnTo>
                  <a:pt x="1160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23900" y="2619375"/>
            <a:ext cx="3943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真实面试全流程（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项）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667250" y="2628900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开面试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逐轮作答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出报告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回读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486650" y="2619375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12 / 12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通过，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13.4 s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9744075" y="266700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571500" y="3105150"/>
            <a:ext cx="11049000" cy="504825"/>
          </a:xfrm>
          <a:custGeom>
            <a:pathLst>
              <a:path w="1160" h="53">
                <a:moveTo>
                  <a:pt x="0" y="52"/>
                </a:moveTo>
                <a:lnTo>
                  <a:pt x="1160" y="52"/>
                </a:lnTo>
                <a:lnTo>
                  <a:pt x="1160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23900" y="3209925"/>
            <a:ext cx="3943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浏览器端到端（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组）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667250" y="3219450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流程、语音链路、设备切换、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面板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486650" y="3209925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控制台零报错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744075" y="325755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571500" y="3695700"/>
            <a:ext cx="11049000" cy="504825"/>
          </a:xfrm>
          <a:custGeom>
            <a:pathLst>
              <a:path w="1160" h="53">
                <a:moveTo>
                  <a:pt x="0" y="52"/>
                </a:moveTo>
                <a:lnTo>
                  <a:pt x="1160" y="52"/>
                </a:lnTo>
                <a:lnTo>
                  <a:pt x="1160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23900" y="3800475"/>
            <a:ext cx="3943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安全与边界实验（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组）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4667250" y="3810000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提示注入、幻觉诱导、空回答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486650" y="3800475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未泄露、未操纵评分、无异常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9744075" y="384810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571500" y="4286250"/>
            <a:ext cx="11049000" cy="504825"/>
          </a:xfrm>
          <a:custGeom>
            <a:pathLst>
              <a:path w="1160" h="53">
                <a:moveTo>
                  <a:pt x="0" y="52"/>
                </a:moveTo>
                <a:lnTo>
                  <a:pt x="1160" y="52"/>
                </a:lnTo>
                <a:lnTo>
                  <a:pt x="1160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23900" y="4391025"/>
            <a:ext cx="3943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Python Agent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端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4667250" y="4400550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核心、知识库、工具注册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486650" y="4391025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31 passed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0.70 s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9744075" y="443865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571500" y="4876800"/>
            <a:ext cx="11049000" cy="504825"/>
          </a:xfrm>
          <a:custGeom>
            <a:pathLst>
              <a:path w="1160" h="53">
                <a:moveTo>
                  <a:pt x="0" y="52"/>
                </a:moveTo>
                <a:lnTo>
                  <a:pt x="1160" y="52"/>
                </a:lnTo>
                <a:lnTo>
                  <a:pt x="1160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23900" y="4981575"/>
            <a:ext cx="3943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性能指标核验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667250" y="4991100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RTF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、响应延迟、报告耗时、安装耗时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486650" y="4981575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全部优于目标值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744075" y="502920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571500" y="5524500"/>
            <a:ext cx="11049000" cy="5619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42950" y="5657850"/>
            <a:ext cx="10706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测试说明：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相关测试真实调用线上大模型，不使用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mock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；浏览器测试用假麦克风注入真实语音，以验证端点检测与自动提交的实际行为。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16 / 20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69" name="" descr="&lt;Slide style={{ width: '1280px', height: '720px', background: '#FFFFFF', padding: 0, fontFamily: 'Microsoft YaHei' }}&gt;&#10;  &lt;Box style={{ position: 'absolute', top: 60, left: 60, width: '1160px', height: '64px', background: '#1E4FA8', flexDirection: 'row', alignItems: 'center', justifyContent: 'space-between', padding: '0 24px' }}&gt;&#10;    &lt;Text style={{ fontSize: 32, fontWeight: 'bold', color: '#FFFFFF' }}&gt;Agent 行为实录（真实运行输出）&lt;/Text&gt;&#10;    &lt;Text style={{ fontSize: 16, color: '#C7D8F5' }}&gt;05 · Evidence&lt;/Text&gt;&#10;  &lt;/Box&gt;&#10;&#10;  &lt;Box style={{ position: 'absolute', top: 148, left: 60, width: '1160px', flexDirection: 'column', gap: 18 }}&gt;&#10;    &lt;Box style={{ flexDirection: 'column', gap: 8, padding: '16px 18px', background: '#F7F9FC', borderLeft: '4px solid #1E4FA8' }}&gt;&#10;      &lt;Text style={{ fontSize: 17, fontWeight: 'bold', color: '#1E4FA8' }}&gt;场景一：候选人答偏（把线程池答成 HashMap）&lt;/Text&gt;&#10;      &lt;Text style={{ fontSize: 16, color: '#1A2230', lineHeight: 1.55 }}&gt;&#10;        Agent 思考：「他完全答偏了……得先礼貌拉回来，重新问 HashMap 的核心结构。」&#10;      &lt;/Text&gt;&#10;      &lt;Text style={{ fontSize: 16, color: '#4A5568', lineHeight: 1.55 }}&gt;&#10;        行为：未顺着错误答案继续，而是纠正方向后重新提问——这是脚本式问答做不到的。&#10;      &lt;/Text&gt;&#10;    &lt;/Box&gt;&#10;&#10;    &lt;Box style={{ flexDirection: 'column', gap: 8, padding: '16px 18px', background: '#F7F9FC', borderLeft: '4px solid #1E4FA8' }}&gt;&#10;      &lt;Text style={{ fontSize: 17, fontWeight: 'bold', color: '#1E4FA8' }}&gt;场景二：候选人回答「不会」&lt;/Text&gt;&#10;      &lt;Text style={{ fontSize: 16, color: '#1A2230', lineHeight: 1.55 }}&gt;&#10;        Agent 思考：「候选人坦诚说不会，先不深挖，换一道更贴近日常开发的索引题，让他有话说。」&#10;      &lt;/Text&gt;&#10;      &lt;Text style={{ fontSize: 16, color: '#4A5568', lineHeight: 1.55 }}&gt;&#10;        行为：自主降低难度并换知识点，而不是机械重复追问。&#10;      &lt;/Text&gt;&#10;    &lt;/Box&gt;&#10;&#10;    &lt;Box style={{ flexDirection: 'column', gap: 8, padding: '16px 18px', background: '#F7F9FC', borderLeft: '4px solid #D9534F' }}&gt;&#10;      &lt;Text style={{ fontSize: 17, fontWeight: 'bold', color: '#1E4FA8' }}&gt;场景三：最后一题的收尾判断&lt;/Text&gt;&#10;      &lt;Text style={{ fontSize: 16, color: '#1A2230', lineHeight: 1.55 }}&gt;&#10;        Agent 思考：「最后一题了，源码追问没意义，降到实战场景看他有没有基本的锁使用直觉，然后收尾。」&#10;      &lt;/Text&gt;&#10;      &lt;Text style={{ fontSize: 16, color: '#4A5568', lineHeight: 1.55 }}&gt;&#10;        行为：感知到进度边界后主动收尾，避免面试被无限拖长。&#10;      &lt;/Text&gt;&#10;    &lt;/Box&gt;&#10;&#10;    &lt;Box style={{ flexDirection: 'column', gap: 8, padding: '16px 18px', background: '#E8EFF8', borderLeft: '4px solid #1E4FA8' }}&gt;&#10;      &lt;Text style={{ fontSize: 17, fontWeight: 'bold', color: '#1E4FA8' }}&gt;评估官：先取数据，再下结论&lt;/Text&gt;&#10;      &lt;Text style={{ fontSize: 16, color: '#1A2230', lineHeight: 1.55 }}&gt;&#10;        「候选人具备电商后端项目经历并能给出量化优化成果，但三道题关键词命中率全为 0，核心技术题几乎全部答偏，整体不通过。」&#10;      &lt;/Text&gt;&#10;      &lt;Text style={{ fontSize: 16, color: '#4A5568', lineHeight: 1.55 }}&gt;&#10;        陪练官据此给出可执行计划：HashMap 底层结构 / ThreadLocal 原理 / 答题用「结论—原理—场景」三段式。&#10;      &lt;/Text&gt;&#10;    &lt;/Box&gt;&#10;  &lt;/Box&gt;&#10;&#10;  &lt;Box style={{ position: 'absolute', top: 670, left: 60, width: '1160px', flexDirection: 'row', justifyContent: 'space-between' }}&gt;&#10;    &lt;Text style={{ fontSize: 14, color: '#8B97A8' }}&gt;面镜 MockMirror · AI 模拟面试与能力提升软件&lt;/Text&gt;&#10;    &lt;Text style={{ fontSize: 14, color: '#8B97A8' }}&gt;17 / 2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4686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行为实录（真实运行输出）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0439400" y="781050"/>
            <a:ext cx="952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05 · Evidence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1409700"/>
            <a:ext cx="11049000" cy="12287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571500" y="1409700"/>
            <a:ext cx="11087100" cy="1228725"/>
          </a:xfrm>
          <a:custGeom>
            <a:pathLst>
              <a:path w="1164" h="129">
                <a:moveTo>
                  <a:pt x="0" y="0"/>
                </a:moveTo>
                <a:lnTo>
                  <a:pt x="4" y="0"/>
                </a:lnTo>
                <a:lnTo>
                  <a:pt x="4" y="129"/>
                </a:lnTo>
                <a:lnTo>
                  <a:pt x="0" y="129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81050" y="1562100"/>
            <a:ext cx="1066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场景一：候选人答偏（把线程池答成</a:t>
            </a: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HashMap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81050" y="1838325"/>
            <a:ext cx="106680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思考：「他完全答偏了……得先礼貌拉回来，重新问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HashMap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的核心结构。」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81050" y="2200275"/>
            <a:ext cx="106680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行为：未顺着错误答案继续，而是纠正方向后重新提问——这是脚本式问答做不到的。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09600" y="2809875"/>
            <a:ext cx="11049000" cy="12287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571500" y="2809875"/>
            <a:ext cx="11087100" cy="1228725"/>
          </a:xfrm>
          <a:custGeom>
            <a:pathLst>
              <a:path w="1164" h="129">
                <a:moveTo>
                  <a:pt x="0" y="0"/>
                </a:moveTo>
                <a:lnTo>
                  <a:pt x="4" y="0"/>
                </a:lnTo>
                <a:lnTo>
                  <a:pt x="4" y="129"/>
                </a:lnTo>
                <a:lnTo>
                  <a:pt x="0" y="129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81050" y="2962275"/>
            <a:ext cx="1066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场景二：候选人回答「不会」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81050" y="3238500"/>
            <a:ext cx="106680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思考：「候选人坦诚说不会，先不深挖，换一道更贴近日常开发的索引题，让他有话说。」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81050" y="3600450"/>
            <a:ext cx="106680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行为：自主降低难度并换知识点，而不是机械重复追问。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09600" y="4210050"/>
            <a:ext cx="11049000" cy="12287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571500" y="4210050"/>
            <a:ext cx="11087100" cy="1228725"/>
          </a:xfrm>
          <a:custGeom>
            <a:pathLst>
              <a:path w="1164" h="129">
                <a:moveTo>
                  <a:pt x="0" y="0"/>
                </a:moveTo>
                <a:lnTo>
                  <a:pt x="4" y="0"/>
                </a:lnTo>
                <a:lnTo>
                  <a:pt x="4" y="129"/>
                </a:lnTo>
                <a:lnTo>
                  <a:pt x="0" y="129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81050" y="4362450"/>
            <a:ext cx="1066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场景三：最后一题的收尾判断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81050" y="4638675"/>
            <a:ext cx="106680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思考：「最后一题了，源码追问没意义，降到实战场景看他有没有基本的锁使用直觉，然后收尾。」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781050" y="5000625"/>
            <a:ext cx="106680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行为：感知到进度边界后主动收尾，避免面试被无限拖长。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609600" y="5610225"/>
            <a:ext cx="11049000" cy="12287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571500" y="5610225"/>
            <a:ext cx="11087100" cy="1228725"/>
          </a:xfrm>
          <a:custGeom>
            <a:pathLst>
              <a:path w="1164" h="129">
                <a:moveTo>
                  <a:pt x="0" y="0"/>
                </a:moveTo>
                <a:lnTo>
                  <a:pt x="4" y="0"/>
                </a:lnTo>
                <a:lnTo>
                  <a:pt x="4" y="129"/>
                </a:lnTo>
                <a:lnTo>
                  <a:pt x="0" y="129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81050" y="5762625"/>
            <a:ext cx="1066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评估官：先取数据，再下结论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81050" y="6038850"/>
            <a:ext cx="106680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「候选人具备电商后端项目经历并能给出量化优化成果，但三道题关键词命中率全为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，核心技术题几乎全部答偏，整体不通过。」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81050" y="6400800"/>
            <a:ext cx="106680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陪练官据此给出可执行计划：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HashMap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底层结构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ThreadLocal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原理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答题用「结论—原理—场景」三段式。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17 / 20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96" name="" descr="&lt;Slide style={{ width: '1280px', height: '720px', background: '#FFFFFF', padding: 0, fontFamily: 'Microsoft YaHei' }}&gt;&#10;  &lt;Box style={{ position: 'absolute', top: 60, left: 60, width: '1160px', height: '64px', background: '#1E4FA8', flexDirection: 'row', alignItems: 'center', justifyContent: 'space-between', padding: '0 24px' }}&gt;&#10;    &lt;Text style={{ fontSize: 32, fontWeight: 'bold', color: '#FFFFFF' }}&gt;团队分工与交付对应关系&lt;/Text&gt;&#10;    &lt;Text style={{ fontSize: 16, color: '#C7D8F5' }}&gt;05 · Teamwork&lt;/Text&gt;&#10;  &lt;/Box&gt;&#10;&#10;  &lt;Box style={{ position: 'absolute', top: 148, left: 60, width: '1160px', flexDirection: 'column', gap: 10 }}&gt;&#10;    &lt;Box style={{ flexDirection: 'row', height: '44px', background: '#1E4FA8', alignItems: 'center', padding: '0 16px' }}&gt;&#10;      &lt;Text style={{ fontSize: 17, fontWeight: 'bold', color: '#FFFFFF', width: '150px' }}&gt;成员&lt;/Text&gt;&#10;      &lt;Text style={{ fontSize: 17, fontWeight: 'bold', color: '#FFFFFF', width: '250px' }}&gt;承担方向&lt;/Text&gt;&#10;      &lt;Text style={{ fontSize: 17, fontWeight: 'bold', color: '#FFFFFF', width: '560px' }}&gt;主要交付物&lt;/Text&gt;&#10;      &lt;Text style={{ fontSize: 17, fontWeight: 'bold', color: '#FFFFFF', width: '184px' }}&gt;工作量&lt;/Text&gt;&#10;    &lt;/Box&gt;&#10;&#10;    &lt;Box style={{ flexDirection: 'row', minHeight: '58px', borderBottom: '1px solid #E5E7EB', alignItems: 'center', padding: '0 16px' }}&gt;&#10;      &lt;Text style={{ fontSize: 16, fontWeight: 'bold', color: '#1A2230', width: '150px' }}&gt;王涛（队长）&lt;/Text&gt;&#10;      &lt;Text style={{ fontSize: 15, color: '#4A5568', width: '250px', lineHeight: 1.5 }}&gt;架构 · Agent 运行时 · 开放层&lt;/Text&gt;&#10;      &lt;Text style={{ fontSize: 15, color: '#1A2230', width: '560px', lineHeight: 1.5 }}&gt;总体架构与零依赖策略；面试官 Agent（254 行）、Agent 团队（276 行）、MCP Server（534 行）、面试状态机（273 行）；文档统筹&lt;/Text&gt;&#10;      &lt;Text style={{ fontSize: 16, color: '#1A2230', width: '184px' }}&gt;约 30%&lt;/Text&gt;&#10;    &lt;/Box&gt;&#10;&#10;    &lt;Box style={{ flexDirection: 'row', minHeight: '58px', borderBottom: '1px solid #E5E7EB', alignItems: 'center', padding: '0 16px' }}&gt;&#10;      &lt;Text style={{ fontSize: 16, fontWeight: 'bold', color: '#1A2230', width: '150px' }}&gt;谭绍卿&lt;/Text&gt;&#10;      &lt;Text style={{ fontSize: 15, color: '#4A5568', width: '250px', lineHeight: 1.5 }}&gt;语音交互全链路&lt;/Text&gt;&#10;      &lt;Text style={{ fontSize: 15, color: '#1A2230', width: '560px', lineHeight: 1.5 }}&gt;本地识别引擎（131 行）与浏览器采集（162 行）、跨平台安装器（170 行）、端点检测与结束词、打断与设备切换、语音拟人化&lt;/Text&gt;&#10;      &lt;Text style={{ fontSize: 16, color: '#1A2230', width: '184px' }}&gt;约 22%&lt;/Text&gt;&#10;    &lt;/Box&gt;&#10;&#10;    &lt;Box style={{ flexDirection: 'row', minHeight: '58px', borderBottom: '1px solid #E5E7EB', alignItems: 'center', padding: '0 16px' }}&gt;&#10;      &lt;Text style={{ fontSize: 16, fontWeight: 'bold', color: '#1A2230', width: '150px' }}&gt;覃佳维&lt;/Text&gt;&#10;      &lt;Text style={{ fontSize: 15, color: '#4A5568', width: '250px', lineHeight: 1.5 }}&gt;前端交互与视觉&lt;/Text&gt;&#10;      &lt;Text style={{ fontSize: 15, color: '#1A2230', width: '560px', lineHeight: 1.5 }}&gt;页面结构（486 行）与样式（664 行）、主交互（2143 行）、Agent 工作台、报告页与全程回放、本地视觉分析（115 行）&lt;/Text&gt;&#10;      &lt;Text style={{ fontSize: 16, color: '#1A2230', width: '184px' }}&gt;约 20%&lt;/Text&gt;&#10;    &lt;/Box&gt;&#10;&#10;    &lt;Box style={{ flexDirection: 'row', minHeight: '58px', borderBottom: '1px solid #E5E7EB', alignItems: 'center', padding: '0 16px' }}&gt;&#10;      &lt;Text style={{ fontSize: 16, fontWeight: 'bold', color: '#1A2230', width: '150px' }}&gt;夏艺凡&lt;/Text&gt;&#10;      &lt;Text style={{ fontSize: 15, color: '#4A5568', width: '250px', lineHeight: 1.5 }}&gt;题库与知识库&lt;/Text&gt;&#10;      &lt;Text style={{ fontSize: 15, color: '#1A2230', width: '560px', lineHeight: 1.5 }}&gt;3 岗位 159 题与扩充脚本（331 行）、组卷算法（126 行）、岗位知识库与 BM25 检索（79 行）、术语归一（170 行）&lt;/Text&gt;&#10;      &lt;Text style={{ fontSize: 16, color: '#1A2230', width: '184px' }}&gt;约 16%&lt;/Text&gt;&#10;    &lt;/Box&gt;&#10;&#10;    &lt;Box style={{ flexDirection: 'row', minHeight: '58px', borderBottom: '1px solid #E5E7EB', alignItems: 'center', padding: '0 16px' }}&gt;&#10;      &lt;Text style={{ fontSize: 16, fontWeight: 'bold', color: '#1A2230', width: '150px' }}&gt;江帆帆&lt;/Text&gt;&#10;      &lt;Text style={{ fontSize: 15, color: '#4A5568', width: '250px', lineHeight: 1.5 }}&gt;数据 · 测试 · 部署&lt;/Text&gt;&#10;      &lt;Text style={{ fontSize: 15, color: '#1A2230', width: '560px', lineHeight: 1.5 }}&gt;存储层（316 行）与原子写、管理后台、成长曲线；浏览器自动化测试 4 组与 AI 安全实验、一键启动脚本与全新目录实测&lt;/Text&gt;&#10;      &lt;Text style={{ fontSize: 16, color: '#1A2230', width: '184px' }}&gt;约 12%&lt;/Text&gt;&#10;    &lt;/Box&gt;&#10;&#10;    &lt;Box style={{ padding: '14px 18px', background: '#E8EFF8', marginTop: 8 }}&gt;&#10;      &lt;Text style={{ fontSize: 17, color: '#1A2230', lineHeight: 1.5 }}&gt;&#10;        &lt;span style={{ fontWeight: 'bold' }}&gt;协作方式：&lt;/span&gt;&#10;        分支保护 + Pull Request 评审（至少 1 人通过方可合并），提交信息规范为「类型: 说明」；每次 PR 自动执行两端测试。全程未发生主干被改坏的情况。&#10;      &lt;/Text&gt;&#10;    &lt;/Box&gt;&#10;  &lt;/Box&gt;&#10;&#10;  &lt;Box style={{ position: 'absolute', top: 670, left: 60, width: '1160px', flexDirection: 'row', justifyContent: 'space-between' }}&gt;&#10;    &lt;Text style={{ fontSize: 14, color: '#8B97A8' }}&gt;面镜 MockMirror · AI 模拟面试与能力提升软件&lt;/Text&gt;&#10;    &lt;Text style={{ fontSize: 14, color: '#8B97A8' }}&gt;18 / 2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团队分工与交付对应关系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0344150" y="7810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05 · Teamwork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571500" y="1409700"/>
            <a:ext cx="110490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23900" y="1524000"/>
            <a:ext cx="1409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成员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2133600" y="1524000"/>
            <a:ext cx="2343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承担方向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476750" y="1524000"/>
            <a:ext cx="526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主要交付物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9744075" y="1524000"/>
            <a:ext cx="1724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工作量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571500" y="1924050"/>
            <a:ext cx="11049000" cy="561975"/>
          </a:xfrm>
          <a:custGeom>
            <a:pathLst>
              <a:path w="1160" h="59">
                <a:moveTo>
                  <a:pt x="0" y="58"/>
                </a:moveTo>
                <a:lnTo>
                  <a:pt x="1160" y="58"/>
                </a:lnTo>
                <a:lnTo>
                  <a:pt x="1160" y="59"/>
                </a:lnTo>
                <a:lnTo>
                  <a:pt x="0" y="5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23900" y="2105025"/>
            <a:ext cx="140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王涛（队长）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2133600" y="2066925"/>
            <a:ext cx="2343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架构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Agent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运行时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开放层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476750" y="1943100"/>
            <a:ext cx="5267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总体架构与零依赖策略；面试官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254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行）、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团队（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276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行）、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MCP Server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534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行）、面试状态机（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273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行）；文档统筹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9744075" y="2105025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30%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571500" y="2571750"/>
            <a:ext cx="11049000" cy="561975"/>
          </a:xfrm>
          <a:custGeom>
            <a:pathLst>
              <a:path w="1160" h="59">
                <a:moveTo>
                  <a:pt x="0" y="58"/>
                </a:moveTo>
                <a:lnTo>
                  <a:pt x="1160" y="58"/>
                </a:lnTo>
                <a:lnTo>
                  <a:pt x="1160" y="59"/>
                </a:lnTo>
                <a:lnTo>
                  <a:pt x="0" y="5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723900" y="2752725"/>
            <a:ext cx="140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谭绍卿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2133600" y="2714625"/>
            <a:ext cx="2343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语音交互全链路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476750" y="2590800"/>
            <a:ext cx="5267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本地识别引擎（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131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行）与浏览器采集（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162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行）、跨平台安装器（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170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行）、端点检测与结束词、打断与设备切换、语音拟人化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744075" y="2752725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22%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571500" y="3219450"/>
            <a:ext cx="11049000" cy="561975"/>
          </a:xfrm>
          <a:custGeom>
            <a:pathLst>
              <a:path w="1160" h="59">
                <a:moveTo>
                  <a:pt x="0" y="58"/>
                </a:moveTo>
                <a:lnTo>
                  <a:pt x="1160" y="58"/>
                </a:lnTo>
                <a:lnTo>
                  <a:pt x="1160" y="59"/>
                </a:lnTo>
                <a:lnTo>
                  <a:pt x="0" y="5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23900" y="3400425"/>
            <a:ext cx="140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覃佳维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2133600" y="3362325"/>
            <a:ext cx="2343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前端交互与视觉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476750" y="3238500"/>
            <a:ext cx="5267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页面结构（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486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行）与样式（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664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行）、主交互（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2143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行）、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工作台、报告页与全程回放、本地视觉分析（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115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9744075" y="3400425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20%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571500" y="3867150"/>
            <a:ext cx="11049000" cy="561975"/>
          </a:xfrm>
          <a:custGeom>
            <a:pathLst>
              <a:path w="1160" h="59">
                <a:moveTo>
                  <a:pt x="0" y="58"/>
                </a:moveTo>
                <a:lnTo>
                  <a:pt x="1160" y="58"/>
                </a:lnTo>
                <a:lnTo>
                  <a:pt x="1160" y="59"/>
                </a:lnTo>
                <a:lnTo>
                  <a:pt x="0" y="5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723900" y="4048125"/>
            <a:ext cx="140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夏艺凡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2133600" y="4010025"/>
            <a:ext cx="2343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题库与知识库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476750" y="3886200"/>
            <a:ext cx="5267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岗位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159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题与扩充脚本（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331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行）、组卷算法（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126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行）、岗位知识库与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BM25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检索（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79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行）、术语归一（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170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744075" y="4048125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16%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571500" y="4514850"/>
            <a:ext cx="11049000" cy="561975"/>
          </a:xfrm>
          <a:custGeom>
            <a:pathLst>
              <a:path w="1160" h="59">
                <a:moveTo>
                  <a:pt x="0" y="58"/>
                </a:moveTo>
                <a:lnTo>
                  <a:pt x="1160" y="58"/>
                </a:lnTo>
                <a:lnTo>
                  <a:pt x="1160" y="59"/>
                </a:lnTo>
                <a:lnTo>
                  <a:pt x="0" y="5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723900" y="4695825"/>
            <a:ext cx="140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江帆帆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2133600" y="4657725"/>
            <a:ext cx="2343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数据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测试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部署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476750" y="4533900"/>
            <a:ext cx="5267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存储层（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316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行）与原子写、管理后台、成长曲线；浏览器自动化测试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组与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安全实验、一键启动脚本与全新目录实测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9744075" y="4695825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12%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71500" y="5238750"/>
            <a:ext cx="11049000" cy="8572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42950" y="5372100"/>
            <a:ext cx="10706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协作方式：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分支保护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+ Pull Request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评审（至少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人通过方可合并），提交信息规范为「类型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: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说明」；每次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PR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自动执行两端测试。全程未发生主干被改坏的情况。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18 / 20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35" name="" descr="&lt;Slide style={{ width: '1280px', height: '720px', background: '#FFFFFF', padding: 0, fontFamily: 'Microsoft YaHei' }}&gt;&#13;&#10;  &lt;Box style={{ position: 'absolute', top: 60, left: 60, width: '1160px', height: '64px', background: '#1E4FA8', flexDirection: 'row', alignItems: 'center', justifyContent: 'space-between', padding: '0 24px' }}&gt;&#13;&#10;    &lt;Text style={{ fontSize: 32, fontWeight: 'bold', color: '#FFFFFF' }}&gt;创新点总结、局限与展望&lt;/Text&gt;&#13;&#10;    &lt;Text style={{ fontSize: 16, color: '#C7D8F5' }}&gt;06 · Conclusion&lt;/Text&gt;&#13;&#10;  &lt;/Box&gt;&#13;&#10;&#13;&#10;  &lt;Box style={{ position: 'absolute', top: 148, left: 60, width: '1160px', flexDirection: 'row', gap: 20 }}&gt;&#13;&#10;    &lt;Box style={{ width: '656px', flexDirection: 'column', gap: 10 }}&gt;&#13;&#10;      &lt;Text style={{ fontSize: 21, fontWeight: 'bold', color: '#1E4FA8' }}&gt;创新点&lt;/Text&gt;&#13;&#10;      &lt;Box style={{ flexDirection: 'row', gap: 10 }}&gt;&#13;&#10;        &lt;Box style={{ width: '320px', padding: '10px 12px', background: '#F7F9FC', border: '1px solid #D6DCE5' }}&gt;&#13;&#10;          &lt;Text style={{ fontSize: 15, color: '#1A2230', lineHeight: 1.5 }}&gt;Ⅰ 决策可视化：思考—工具—观察—结论全链路可见&lt;/Text&gt;&#13;&#10;        &lt;/Box&gt;&#13;&#10;        &lt;Box style={{ width: '320px', padding: '10px 12px', background: '#F7F9FC', border: '1px solid #D6DCE5' }}&gt;&#13;&#10;          &lt;Text style={{ fontSize: 15, color: '#1A2230', lineHeight: 1.5 }}&gt;Ⅱ 四个专职 Agent 分工协作并产出可核验结论&lt;/Text&gt;&#13;&#10;        &lt;/Box&gt;&#13;&#10;      &lt;/Box&gt;&#13;&#10;      &lt;Box style={{ flexDirection: 'row', gap: 10 }}&gt;&#13;&#10;        &lt;Box style={{ width: '320px', padding: '10px 12px', background: '#F7F9FC', border: '1px solid #D6DCE5' }}&gt;&#13;&#10;          &lt;Text style={{ fontSize: 15, color: '#1A2230', lineHeight: 1.5 }}&gt;Ⅲ MCP 协议对外开放，可被第三方 AI 直接调用&lt;/Text&gt;&#13;&#10;        &lt;/Box&gt;&#13;&#10;        &lt;Box style={{ width: '320px', padding: '10px 12px', background: '#F7F9FC', border: '1px solid #D6DCE5' }}&gt;&#13;&#10;          &lt;Text style={{ fontSize: 15, color: '#1A2230', lineHeight: 1.5 }}&gt;Ⅳ 本地离线语音识别，摆脱境外服务依赖&lt;/Text&gt;&#13;&#10;        &lt;/Box&gt;&#13;&#10;      &lt;/Box&gt;&#13;&#10;      &lt;Box style={{ flexDirection: 'row', gap: 10 }}&gt;&#13;&#10;        &lt;Box style={{ width: '320px', padding: '10px 12px', background: '#F7F9FC', border: '1px solid #D6DCE5' }}&gt;&#13;&#10;          &lt;Text style={{ fontSize: 15, color: '#1A2230', lineHeight: 1.5 }}&gt;Ⅴ 130+ 条术语归一，纠正口语技术名词误识别&lt;/Text&gt;&#13;&#10;        &lt;/Box&gt;&#13;&#10;        &lt;Box style={{ width: '320px', padding: '10px 12px', background: '#F7F9FC', border: '1px solid #D6DCE5' }}&gt;&#13;&#10;          &lt;Text style={{ fontSize: 15, color: '#1A2230', lineHeight: 1.5 }}&gt;Ⅵ 预取机制，把响应延迟从 1120 ms 压到 6 ms&lt;/Text&gt;&#13;&#10;        &lt;/Box&gt;&#13;&#10;      &lt;/Box&gt;&#13;&#10;      &lt;Box style={{ flexDirection: 'row', gap: 10 }}&gt;&#13;&#10;        &lt;Box style={{ width: '320px', padding: '10px 12px', background: '#F7F9FC', border: '1px solid #D6DCE5' }}&gt;&#13;&#10;          &lt;Text style={{ fontSize: 15, color: '#1A2230', lineHeight: 1.5 }}&gt;Ⅶ 隐私本地化：视频帧与语音均可不出本机&lt;/Text&gt;&#13;&#10;        &lt;/Box&gt;&#13;&#10;        &lt;Box style={{ width: '320px', padding: '10px 12px', background: '#F7F9FC', border: '1px solid #D6DCE5' }}&gt;&#13;&#10;          &lt;Text style={{ fontSize: 15, color: '#1A2230', lineHeight: 1.5 }}&gt;Ⅷ 零第三方依赖部署，clone 后双击即跑&lt;/Text&gt;&#13;&#10;        &lt;/Box&gt;&#13;&#10;      &lt;/Box&gt;&#13;&#10;    &lt;/Box&gt;&#13;&#10;&#13;&#10;    &lt;Box style={{ width: '1px', background: '#D6DCE5' }} /&gt;&#13;&#10;&#13;&#10;    &lt;Box style={{ width: '462px', flexDirection: 'column', gap: 14 }}&gt;&#13;&#10;      &lt;Box style={{ flexDirection: 'column', gap: 8 }}&gt;&#13;&#10;        &lt;Text style={{ fontSize: 21, fontWeight: 'bold', color: '#D9534F' }}&gt;研究局限&lt;/Text&gt;&#13;&#10;        &lt;Text style={{ fontSize: 15, color: '#1A2230', lineHeight: 1.55 }}&gt;· 语音音色依赖操作系统语音包，不同机器表现不一致&lt;/Text&gt;&#13;&#10;        &lt;Text style={{ fontSize: 15, color: '#1A2230', lineHeight: 1.55 }}&gt;· 视觉分析仅统计抬头率与紧张度等基础指标&lt;/Text&gt;&#13;&#10;        &lt;Text style={{ fontSize: 15, color: '#1A2230', lineHeight: 1.55 }}&gt;· 单进程单文件存储，尚不支持多人并发面试&lt;/Text&gt;&#13;&#10;        &lt;Text style={{ fontSize: 15, color: '#1A2230', lineHeight: 1.55 }}&gt;· 题库覆盖 3 个岗位，未做跨专业扩展&lt;/Text&gt;&#13;&#10;      &lt;/Box&gt;&#13;&#10;      &lt;Box style={{ width: '462px', height: '1px', background: '#E5E7EB' }} /&gt;&#13;&#10;      &lt;Box style={{ flexDirection: 'column', gap: 8 }}&gt;&#13;&#10;        &lt;Text style={{ fontSize: 21, fontWeight: 'bold', color: '#1E4FA8' }}&gt;后续方向&lt;/Text&gt;&#13;&#10;        &lt;Text style={{ fontSize: 15, color: '#1A2230', lineHeight: 1.55 }}&gt;· 接入云端高质量音色作为可选升级&lt;/Text&gt;&#13;&#10;        &lt;Text style={{ fontSize: 15, color: '#1A2230', lineHeight: 1.55 }}&gt;· 引入微表情与视线落点分析，给出表达建议&lt;/Text&gt;&#13;&#10;        &lt;Text style={{ fontSize: 15, color: '#1A2230', lineHeight: 1.55 }}&gt;· 改用 SQLite 与会话锁，支持并发面试&lt;/Text&gt;&#13;&#10;        &lt;Text style={{ fontSize: 15, color: '#1A2230', lineHeight: 1.55 }}&gt;· 建立跨场次能力画像，形成长期成长档案&lt;/Text&gt;&#13;&#10;      &lt;/Box&gt;&#13;&#10;    &lt;/Box&gt;&#13;&#10;  &lt;/Box&gt;&#13;&#10;&#13;&#10;  &lt;Box style={{ position: 'absolute', top: 670, left: 60, width: '1160px', flexDirection: 'row', justifyContent: 'space-between' }}&gt;&#13;&#10;    &lt;Text style={{ fontSize: 14, color: '#8B97A8' }}&gt;面镜 MockMirror · AI 模拟面试与能力提升软件&lt;/Text&gt;&#13;&#10;    &lt;Text style={{ fontSize: 14, color: '#8B97A8' }}&gt;19 / 2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571500" y="571500"/>
            <a:ext cx="11049000" cy="609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00100" y="695325"/>
            <a:ext cx="335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创新点总结、局限与展望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0277475" y="781050"/>
            <a:ext cx="1114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7D8F5"/>
                </a:solidFill>
                <a:latin typeface="Microsoft YaHei"/>
                <a:ea typeface="Microsoft YaHei"/>
              </a:rPr>
              <a:t>06 · Conclusion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71500" y="1409700"/>
            <a:ext cx="6248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创新点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571500" y="1752600"/>
            <a:ext cx="3048000" cy="7048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85800" y="1847850"/>
            <a:ext cx="2819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Ⅰ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决策可视化：思考—工具—观察—结论全链路可见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3714750" y="1752600"/>
            <a:ext cx="3048000" cy="7048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3829050" y="1847850"/>
            <a:ext cx="2819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Ⅱ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四个专职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分工协作并产出可核验结论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571500" y="2552700"/>
            <a:ext cx="3048000" cy="7048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85800" y="2647950"/>
            <a:ext cx="2819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Ⅲ MCP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协议对外开放，可被第三方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直接调用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3714750" y="2552700"/>
            <a:ext cx="3048000" cy="7048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3829050" y="2647950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Ⅳ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本地离线语音识别，摆脱境外服务依赖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571500" y="3352800"/>
            <a:ext cx="3048000" cy="7048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85800" y="3448050"/>
            <a:ext cx="2819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Ⅴ 130+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条术语归一，纠正口语技术名词误识别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3714750" y="3352800"/>
            <a:ext cx="3048000" cy="7048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3829050" y="3448050"/>
            <a:ext cx="2819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Ⅵ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预取机制，把响应延迟从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1120 ms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压到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6 ms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571500" y="4152900"/>
            <a:ext cx="3048000" cy="4476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85800" y="4248150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Ⅶ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隐私本地化：视频帧与语音均可不出本机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3714750" y="4152900"/>
            <a:ext cx="3048000" cy="4476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3829050" y="4248150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零第三方依赖部署，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clone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后双击即跑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7010400" y="1409700"/>
            <a:ext cx="9525" cy="35147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7210425" y="1409700"/>
            <a:ext cx="4400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研究局限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7210425" y="1733550"/>
            <a:ext cx="44005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语音音色依赖操作系统语音包，不同机器表现不一致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7210425" y="2076450"/>
            <a:ext cx="44005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视觉分析仅统计抬头率与紧张度等基础指标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7210425" y="2419350"/>
            <a:ext cx="44005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单进程单文件存储，尚不支持多人并发面试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7210425" y="2762250"/>
            <a:ext cx="44005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题库覆盖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个岗位，未做跨专业扩展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7210425" y="3162300"/>
            <a:ext cx="4400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210425" y="3305175"/>
            <a:ext cx="4400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后续方向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7210425" y="3629025"/>
            <a:ext cx="44005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接入云端高质量音色作为可选升级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7210425" y="3971925"/>
            <a:ext cx="44005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引入微表情与视线落点分析，给出表达建议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210425" y="4314825"/>
            <a:ext cx="44005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改用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SQLite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与会话锁，支持并发面试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7210425" y="4657725"/>
            <a:ext cx="44005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建立跨场次能力画像，形成长期成长档案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面镜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MockMirror ·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11633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19 / 20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94" name="" descr="&lt;Slide style={{ width: '1280px', height: '720px', background: '#FFFFFF', padding: 0, fontFamily: 'Microsoft YaHei' }}&gt;&#10;  &lt;Box style={{ position: 'absolute', top: 0, left: 0, width: '1280px', height: '10px', background: '#1E4FA8' }} /&gt;&#10;  &lt;Box style={{ position: 'absolute', bottom: 0, left: 0, width: '1280px', height: '10px', background: '#1E4FA8' }} /&gt;&#10;  &lt;Box style={{ flex: 1, alignItems: 'center', justifyContent: 'center', padding: '0 120px' }}&gt;&#10;    &lt;Box style={{ width: '1040px', flexDirection: 'column', gap: 26, alignItems: 'center' }}&gt;&#10;      &lt;Text style={{ fontSize: 52, fontWeight: 'bold', color: '#1E4FA8' }}&gt;感谢聆听，敬请批评指正&lt;/Text&gt;&#10;      &lt;Box style={{ width: '1040px', height: '2px', background: '#D6DCE5' }} /&gt;&#10;      &lt;Text style={{ fontSize: 20, color: '#1A2230', lineHeight: 1.6, textAlign: 'center' }}&gt;&#10;        面镜 MockMirror —— AI 模拟面试与能力提升软件&lt;br /&gt;&#10;        赛题 A11 · 浙江师范大学第 9 届大学生服务外包创新应用竞赛&#10;      &lt;/Text&gt;&#10;      &lt;Box style={{ width: '820px', padding: '16px 20px', background: '#E8EFF8', alignItems: 'center' }}&gt;&#10;        &lt;Text style={{ fontSize: 18, color: '#1A2230', textAlign: 'center', lineHeight: 1.6 }}&gt;&#10;          我们的判断：接了大模型的软件不等于 Agent。真正的区别在于系统是否具备观察、调用工具、&lt;br /&gt;&#10;          并根据结果自主调整行为的闭环——而且这个过程应当对使用者可见。&#10;        &lt;/Text&gt;&#10;      &lt;/Box&gt;&#10;      &lt;Text style={{ fontSize: 17, color: '#4A5568', textAlign: 'center', lineHeight: 1.6 }}&gt;&#10;        团队成员：王涛（队长）· 谭绍卿 · 夏艺凡 · 覃佳维 · 江帆帆　　2026 年 10 月&#10;      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3371850" y="1619250"/>
            <a:ext cx="54483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E4FA8"/>
                </a:solidFill>
                <a:latin typeface="Microsoft YaHei"/>
                <a:ea typeface="Microsoft YaHei"/>
              </a:rPr>
              <a:t>感谢聆听，敬请批评指正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1143000" y="2466975"/>
            <a:ext cx="99060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3505200" y="2733675"/>
            <a:ext cx="5181600" cy="7334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面镜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MockMirror —— AI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模拟面试与能力提升软件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赛题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A11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浙江师范大学第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届大学生服务外包创新应用竞赛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2190750" y="3714750"/>
            <a:ext cx="7810500" cy="9715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2476500" y="3867150"/>
            <a:ext cx="7239000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我们的判断：接了大模型的软件不等于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。真正的区别在于系统是否具备观察、调用工具、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并根据结果自主调整行为的闭环——而且这个过程应当对使用者可见。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3305175" y="4933950"/>
            <a:ext cx="5581650" cy="3143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团队成员：王涛（队长）·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谭绍卿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夏艺凡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覃佳维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江帆帆　　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年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3" name=""/>
          <p:cNvSpPr/>
          <p:nvPr/>
        </p:nvSpPr>
        <p:spPr>
          <a:xfrm rot="0" flipH="0" flipV="0">
            <a:off x="0" y="676275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2026-10-27T04:24:35Z</dcterms:created>
  <dcterms:modified xsi:type="dcterms:W3CDTF">2026-10-27T04:24:35Z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{"AIGC":{"Label":"1","ContentProducer":"00119111010856365494821B355","ProduceID":"01a1798a67737450a727d05c2c1d1d80","ReservedCode1":"","ContentPropagator":"00119111010856365494821B355","PropagateID":"01a1798a67737450a727d05c2c1d1d80","ReservedCode2":""}}</vt:lpwstr>
  </property>
</Properties>
</file>